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_sh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3152"/>
            <a:ext cx="2423160" cy="11155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A2540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0F19"/>
                </a:solidFill>
                <a:latin typeface="Segoe UI"/>
              </a:defRPr>
            </a:pPr>
            <a:r>
              <a:t>Voice Gaurd — Real-Time In-Call Deepfake Voice Clone Interception &amp; Biometric 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858000" cy="3337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950" b="1">
                <a:solidFill>
                  <a:srgbClr val="4F5D75"/>
                </a:solidFill>
                <a:latin typeface="Segoe UI"/>
              </a:defRPr>
            </a:pPr>
            <a:r>
              <a:t>▸ PROBLEM STATEMENT ID</a:t>
            </a:r>
          </a:p>
          <a:p>
            <a:pPr algn="l">
              <a:spcBef>
                <a:spcPts val="200"/>
              </a:spcBef>
              <a:defRPr sz="1750" b="1">
                <a:solidFill>
                  <a:srgbClr val="0A2540"/>
                </a:solidFill>
                <a:latin typeface="Segoe UI"/>
              </a:defRPr>
            </a:pPr>
            <a:r>
              <a:t>SIH26104</a:t>
            </a:r>
          </a:p>
          <a:p>
            <a:pPr algn="l">
              <a:spcBef>
                <a:spcPts val="700"/>
              </a:spcBef>
              <a:defRPr sz="950" b="1">
                <a:solidFill>
                  <a:srgbClr val="4F5D75"/>
                </a:solidFill>
                <a:latin typeface="Segoe UI"/>
              </a:defRPr>
            </a:pPr>
            <a:r>
              <a:t>▸ PROBLEM STATEMENT TITLE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A0F19"/>
                </a:solidFill>
                <a:latin typeface="Segoe UI"/>
              </a:defRPr>
            </a:pPr>
            <a:r>
              <a:t>AI-Powered Real-Time Detection &amp; Prevention of Voice Cloning Impersonation</a:t>
            </a:r>
          </a:p>
          <a:p>
            <a:pPr algn="l">
              <a:spcBef>
                <a:spcPts val="700"/>
              </a:spcBef>
              <a:defRPr sz="950" b="1">
                <a:solidFill>
                  <a:srgbClr val="4F5D75"/>
                </a:solidFill>
                <a:latin typeface="Segoe UI"/>
              </a:defRPr>
            </a:pPr>
            <a:r>
              <a:t>▸ THEME &amp; CATEGORY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A0F19"/>
                </a:solidFill>
                <a:latin typeface="Segoe UI"/>
              </a:defRPr>
            </a:pPr>
            <a:r>
              <a:t>Blockchain &amp; Cybersecurity   |   Software Edition</a:t>
            </a:r>
          </a:p>
          <a:p>
            <a:pPr algn="l">
              <a:spcBef>
                <a:spcPts val="700"/>
              </a:spcBef>
              <a:defRPr sz="950" b="1">
                <a:solidFill>
                  <a:srgbClr val="4F5D75"/>
                </a:solidFill>
                <a:latin typeface="Segoe UI"/>
              </a:defRPr>
            </a:pPr>
            <a:r>
              <a:t>▸ TEAM CREDENTIALS</a:t>
            </a:r>
          </a:p>
          <a:p>
            <a:pPr algn="l">
              <a:spcBef>
                <a:spcPts val="200"/>
              </a:spcBef>
              <a:defRPr sz="1450" b="1">
                <a:solidFill>
                  <a:srgbClr val="0A2540"/>
                </a:solidFill>
                <a:latin typeface="Segoe UI"/>
              </a:defRPr>
            </a:pPr>
            <a:r>
              <a:t>Team ID: 170663   •   Team Name: Voice Gaurd</a:t>
            </a:r>
          </a:p>
          <a:p>
            <a:pPr algn="l">
              <a:spcBef>
                <a:spcPts val="700"/>
              </a:spcBef>
              <a:defRPr sz="950" b="1">
                <a:solidFill>
                  <a:srgbClr val="4F5D75"/>
                </a:solidFill>
                <a:latin typeface="Segoe UI"/>
              </a:defRPr>
            </a:pPr>
            <a:r>
              <a:t>▸ PROJECT GITHUB REPOSITORY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https://github.com/jayaram21-creator/VoiceGuard</a:t>
            </a:r>
          </a:p>
        </p:txBody>
      </p:sp>
      <p:sp>
        <p:nvSpPr>
          <p:cNvPr id="6" name="Terminator 5"/>
          <p:cNvSpPr/>
          <p:nvPr/>
        </p:nvSpPr>
        <p:spPr>
          <a:xfrm>
            <a:off x="548640" y="5212080"/>
            <a:ext cx="2194560" cy="868680"/>
          </a:xfrm>
          <a:prstGeom prst="flowChartTerminator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🧠 DUAL-BRAIN AI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AASIST GNN + Biometric Voiceprints</a:t>
            </a:r>
          </a:p>
        </p:txBody>
      </p:sp>
      <p:sp>
        <p:nvSpPr>
          <p:cNvPr id="7" name="Terminator 6"/>
          <p:cNvSpPr/>
          <p:nvPr/>
        </p:nvSpPr>
        <p:spPr>
          <a:xfrm>
            <a:off x="2880360" y="5212080"/>
            <a:ext cx="2194560" cy="868680"/>
          </a:xfrm>
          <a:prstGeom prst="flowChartTerminator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⚡ ZERO CALL DELAY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&lt;150ms Inspection on Standard CPU</a:t>
            </a:r>
          </a:p>
        </p:txBody>
      </p:sp>
      <p:sp>
        <p:nvSpPr>
          <p:cNvPr id="8" name="Terminator 7"/>
          <p:cNvSpPr/>
          <p:nvPr/>
        </p:nvSpPr>
        <p:spPr>
          <a:xfrm>
            <a:off x="5212080" y="5212080"/>
            <a:ext cx="2194560" cy="868680"/>
          </a:xfrm>
          <a:prstGeom prst="flowChartTerminator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⚖ 1-CLICK POLICE FIR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Form 1930-B PDF with SHA-256 Hash</a:t>
            </a:r>
          </a:p>
        </p:txBody>
      </p:sp>
      <p:pic>
        <p:nvPicPr>
          <p:cNvPr id="9" name="Picture 8" descr="sih_clea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08760"/>
            <a:ext cx="374903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7315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0A2540"/>
                </a:solidFill>
                <a:latin typeface="Segoe UI"/>
              </a:defRPr>
            </a:pPr>
            <a:r>
              <a:t>IDEA TITLE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VISUAL IN-CALL PROTECTION FLOWCHART</a:t>
            </a:r>
          </a:p>
        </p:txBody>
      </p:sp>
      <p:sp>
        <p:nvSpPr>
          <p:cNvPr id="3" name="Oval 2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EBF2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Voice Gaurd</a:t>
            </a:r>
          </a:p>
        </p:txBody>
      </p:sp>
      <p:pic>
        <p:nvPicPr>
          <p:cNvPr id="4" name="Picture 3" descr="slide_1_sh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3152"/>
            <a:ext cx="2423160" cy="1115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64224"/>
            <a:ext cx="868680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 Name: Voice Gaurd   |   Team ID: 170663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64224"/>
            <a:ext cx="73152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rminator 7"/>
          <p:cNvSpPr/>
          <p:nvPr/>
        </p:nvSpPr>
        <p:spPr>
          <a:xfrm>
            <a:off x="365760" y="1115568"/>
            <a:ext cx="5623560" cy="694944"/>
          </a:xfrm>
          <a:prstGeom prst="flowChartTerminator">
            <a:avLst/>
          </a:prstGeom>
          <a:solidFill>
            <a:srgbClr val="EBF2FA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91440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📞 STEP 1: INCOMING CALL STREAM  (WebRTC TAP)</a:t>
            </a:r>
          </a:p>
          <a:p>
            <a:pPr algn="ctr">
              <a:defRPr sz="1000" b="1">
                <a:solidFill>
                  <a:srgbClr val="0A0F19"/>
                </a:solidFill>
                <a:latin typeface="Segoe UI"/>
              </a:defRPr>
            </a:pPr>
            <a:r>
              <a:t>Direct peer-to-peer 16 kHz audio tap. Zero delay added to human conversation.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17520" y="1847088"/>
            <a:ext cx="320040" cy="182880"/>
          </a:xfrm>
          <a:prstGeom prst="downArrow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365760" y="2048256"/>
            <a:ext cx="5623560" cy="786384"/>
          </a:xfrm>
          <a:prstGeom prst="hexagon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02920" tIns="91440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🧠 STEP 2: DUAL-BRAIN AI CORE INSPECTION  (&lt;150ms)</a:t>
            </a:r>
          </a:p>
          <a:p>
            <a:pPr algn="ctr">
              <a:defRPr sz="1000" b="1">
                <a:solidFill>
                  <a:srgbClr val="0A0F19"/>
                </a:solidFill>
                <a:latin typeface="Segoe UI"/>
              </a:defRPr>
            </a:pPr>
            <a:r>
              <a:t>Brain 1 (AASIST GNN) checks vocoders  •  Brain 2 (ECAPA-TDNN) checks speaker ID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17520" y="2852928"/>
            <a:ext cx="320040" cy="182880"/>
          </a:xfrm>
          <a:prstGeom prst="downArrow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ision 11"/>
          <p:cNvSpPr/>
          <p:nvPr/>
        </p:nvSpPr>
        <p:spPr>
          <a:xfrm>
            <a:off x="2148840" y="3054096"/>
            <a:ext cx="2057400" cy="1005840"/>
          </a:xfrm>
          <a:prstGeom prst="flowChartDecision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64592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AI SPOOF</a:t>
            </a:r>
          </a:p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≥ 65%?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63824"/>
            <a:ext cx="640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0F7636"/>
                </a:solidFill>
                <a:latin typeface="Segoe UI"/>
              </a:defRPr>
            </a:pPr>
            <a:r>
              <a:t>[ NO ]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1691640" y="3401568"/>
            <a:ext cx="411480" cy="201168"/>
          </a:xfrm>
          <a:prstGeom prst="leftArrow">
            <a:avLst/>
          </a:prstGeom>
          <a:solidFill>
            <a:srgbClr val="0F7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3090672"/>
            <a:ext cx="1280160" cy="868680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0F7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sz="1000" b="1">
                <a:solidFill>
                  <a:srgbClr val="0F7636"/>
                </a:solidFill>
                <a:latin typeface="Segoe UI"/>
              </a:defRPr>
            </a:pPr>
            <a:r>
              <a:t>🟢 REAL VOICE</a:t>
            </a:r>
          </a:p>
          <a:p>
            <a:pPr algn="ctr">
              <a:defRPr sz="900" b="1">
                <a:solidFill>
                  <a:srgbClr val="0A0F19"/>
                </a:solidFill>
                <a:latin typeface="Segoe UI"/>
              </a:defRPr>
            </a:pPr>
            <a:r>
              <a:t>Score &lt;35%</a:t>
            </a:r>
            <a:br/>
            <a:r>
              <a:t>Call Allowed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163824"/>
            <a:ext cx="640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B91C1C"/>
                </a:solidFill>
                <a:latin typeface="Segoe UI"/>
              </a:defRPr>
            </a:pPr>
            <a:r>
              <a:t>[ YES ]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51960" y="3401568"/>
            <a:ext cx="411480" cy="20116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60" y="3090672"/>
            <a:ext cx="1280160" cy="868680"/>
          </a:xfrm>
          <a:prstGeom prst="roundRect">
            <a:avLst/>
          </a:prstGeom>
          <a:solidFill>
            <a:srgbClr val="FEF2F2"/>
          </a:solidFill>
          <a:ln w="228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91440"/>
          <a:lstStyle/>
          <a:p>
            <a:pPr algn="ctr">
              <a:defRPr sz="1000" b="1">
                <a:solidFill>
                  <a:srgbClr val="B91C1C"/>
                </a:solidFill>
                <a:latin typeface="Segoe UI"/>
              </a:defRPr>
            </a:pPr>
            <a:r>
              <a:t>🔴 CLONED AI</a:t>
            </a:r>
          </a:p>
          <a:p>
            <a:pPr algn="ctr">
              <a:defRPr sz="900" b="1">
                <a:solidFill>
                  <a:srgbClr val="0A0F19"/>
                </a:solidFill>
                <a:latin typeface="Segoe UI"/>
              </a:defRPr>
            </a:pPr>
            <a:r>
              <a:t>Score ≥65%</a:t>
            </a:r>
            <a:br/>
            <a:r>
              <a:t>CALL DROPPED!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017520" y="4096512"/>
            <a:ext cx="320040" cy="182880"/>
          </a:xfrm>
          <a:prstGeom prst="down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cument 19"/>
          <p:cNvSpPr/>
          <p:nvPr/>
        </p:nvSpPr>
        <p:spPr>
          <a:xfrm>
            <a:off x="365760" y="4315968"/>
            <a:ext cx="5623560" cy="960120"/>
          </a:xfrm>
          <a:prstGeom prst="flowChartDocumen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⚖ STEP 4: 1-CLICK POLICE CYBER CRIME FIR DOSSIER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Auto-generates certified Form 1930-B PDF with SHA-256 audio hash (Sec 65B Evidence Act).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440680"/>
            <a:ext cx="562356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100" b="1">
                <a:solidFill>
                  <a:srgbClr val="0A2540"/>
                </a:solidFill>
                <a:latin typeface="Segoe UI"/>
              </a:defRPr>
            </a:pPr>
            <a:r>
              <a:t>★ TESTED ON REAL CLONES: ElevenLabs, ChatGPT, Azure &amp; RVC</a:t>
            </a:r>
          </a:p>
          <a:p>
            <a:pPr>
              <a:spcBef>
                <a:spcPts val="200"/>
              </a:spcBef>
              <a:defRPr sz="1000" b="1">
                <a:solidFill>
                  <a:srgbClr val="0A0F19"/>
                </a:solidFill>
                <a:latin typeface="Segoe UI"/>
              </a:defRPr>
            </a:pPr>
            <a:r>
              <a:t>99.9% Empirical Spoof Accuracy  •  Sub-150ms Threat Decision Locking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15568"/>
            <a:ext cx="56235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unded_clo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43584"/>
            <a:ext cx="2926080" cy="3977639"/>
          </a:xfrm>
          <a:prstGeom prst="rect">
            <a:avLst/>
          </a:prstGeom>
        </p:spPr>
      </p:pic>
      <p:sp>
        <p:nvSpPr>
          <p:cNvPr id="24" name="Terminator 23"/>
          <p:cNvSpPr/>
          <p:nvPr/>
        </p:nvSpPr>
        <p:spPr>
          <a:xfrm>
            <a:off x="9418320" y="1243584"/>
            <a:ext cx="2286000" cy="868680"/>
          </a:xfrm>
          <a:prstGeom prst="flowChartTerminator">
            <a:avLst/>
          </a:prstGeom>
          <a:solidFill>
            <a:srgbClr val="FEF2F2"/>
          </a:solidFill>
          <a:ln w="228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B91C1C"/>
                </a:solidFill>
                <a:latin typeface="Segoe UI"/>
              </a:defRPr>
            </a:pPr>
            <a:r>
              <a:t>🚨 VERDICT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A0F19"/>
                </a:solidFill>
                <a:latin typeface="Segoe UI"/>
              </a:defRPr>
            </a:pPr>
            <a:r>
              <a:t>99.9% AI Clone</a:t>
            </a:r>
          </a:p>
        </p:txBody>
      </p:sp>
      <p:sp>
        <p:nvSpPr>
          <p:cNvPr id="25" name="Terminator 24"/>
          <p:cNvSpPr/>
          <p:nvPr/>
        </p:nvSpPr>
        <p:spPr>
          <a:xfrm>
            <a:off x="9418320" y="2203704"/>
            <a:ext cx="2286000" cy="868680"/>
          </a:xfrm>
          <a:prstGeom prst="flowChartTerminator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⚡ LATENCY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A0F19"/>
                </a:solidFill>
                <a:latin typeface="Segoe UI"/>
              </a:defRPr>
            </a:pPr>
            <a:r>
              <a:t>1.26s Lock</a:t>
            </a:r>
          </a:p>
        </p:txBody>
      </p:sp>
      <p:sp>
        <p:nvSpPr>
          <p:cNvPr id="26" name="Terminator 25"/>
          <p:cNvSpPr/>
          <p:nvPr/>
        </p:nvSpPr>
        <p:spPr>
          <a:xfrm>
            <a:off x="9418320" y="3163824"/>
            <a:ext cx="2286000" cy="868680"/>
          </a:xfrm>
          <a:prstGeom prst="flowChartTerminator">
            <a:avLst/>
          </a:prstGeom>
          <a:solidFill>
            <a:srgbClr val="FEF2F2"/>
          </a:solidFill>
          <a:ln w="228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B91C1C"/>
                </a:solidFill>
                <a:latin typeface="Segoe UI"/>
              </a:defRPr>
            </a:pPr>
            <a:r>
              <a:t>🛡 POLICY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A0F19"/>
                </a:solidFill>
                <a:latin typeface="Segoe UI"/>
              </a:defRPr>
            </a:pPr>
            <a:r>
              <a:t>Call Blocked</a:t>
            </a:r>
          </a:p>
        </p:txBody>
      </p:sp>
      <p:sp>
        <p:nvSpPr>
          <p:cNvPr id="27" name="Terminator 26"/>
          <p:cNvSpPr/>
          <p:nvPr/>
        </p:nvSpPr>
        <p:spPr>
          <a:xfrm>
            <a:off x="9418320" y="4123944"/>
            <a:ext cx="2286000" cy="868680"/>
          </a:xfrm>
          <a:prstGeom prst="flowChartTerminator">
            <a:avLst/>
          </a:prstGeom>
          <a:solidFill>
            <a:srgbClr val="F0FDF4"/>
          </a:solidFill>
          <a:ln w="22860">
            <a:solidFill>
              <a:srgbClr val="0F7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00" b="1">
                <a:solidFill>
                  <a:srgbClr val="0F7636"/>
                </a:solidFill>
                <a:latin typeface="Segoe UI"/>
              </a:defRPr>
            </a:pPr>
            <a:r>
              <a:t>⚖ EVIDENCE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0A0F19"/>
                </a:solidFill>
                <a:latin typeface="Segoe UI"/>
              </a:defRPr>
            </a:pPr>
            <a:r>
              <a:t>1930 PDF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94960"/>
            <a:ext cx="5349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0F19"/>
                </a:solidFill>
                <a:latin typeface="Segoe UI"/>
              </a:defRPr>
            </a:pPr>
            <a:r>
              <a:t>📸 Live Working Prototype: Cloned voice intercepted in-call, call terminated, legal FIR 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7315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0A2540"/>
                </a:solidFill>
                <a:latin typeface="Segoe UI"/>
              </a:defRPr>
            </a:pPr>
            <a:r>
              <a:t>TECHNICAL APPROACH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END-TO-END SYSTEM ARCHITECTURE PIPELINE</a:t>
            </a:r>
          </a:p>
        </p:txBody>
      </p:sp>
      <p:sp>
        <p:nvSpPr>
          <p:cNvPr id="3" name="Oval 2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EBF2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Voice Gaurd</a:t>
            </a:r>
          </a:p>
        </p:txBody>
      </p:sp>
      <p:pic>
        <p:nvPicPr>
          <p:cNvPr id="4" name="Picture 3" descr="slide_1_sh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3152"/>
            <a:ext cx="2423160" cy="1115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64224"/>
            <a:ext cx="868680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 Name: Voice Gaurd   |   Team ID: 170663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64224"/>
            <a:ext cx="73152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Data 7"/>
          <p:cNvSpPr/>
          <p:nvPr/>
        </p:nvSpPr>
        <p:spPr>
          <a:xfrm>
            <a:off x="365760" y="1078992"/>
            <a:ext cx="5623560" cy="749808"/>
          </a:xfrm>
          <a:prstGeom prst="flowChartInputOutput">
            <a:avLst/>
          </a:prstGeom>
          <a:solidFill>
            <a:srgbClr val="EBF2FA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02920" tIns="73152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TIER 1: LIVE AUDIO INGESTION LAYER (WebRTC 16 kHz)</a:t>
            </a:r>
          </a:p>
          <a:p>
            <a:pPr algn="ctr">
              <a:defRPr sz="1000" b="1">
                <a:solidFill>
                  <a:srgbClr val="0A0F19"/>
                </a:solidFill>
                <a:latin typeface="Segoe UI"/>
              </a:defRPr>
            </a:pPr>
            <a:r>
              <a:t>16 kHz Stream ➔ 4.04s Circular Buffer (64.6k samples) • Zero Delay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17520" y="1847088"/>
            <a:ext cx="320040" cy="182880"/>
          </a:xfrm>
          <a:prstGeom prst="downArrow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2066543"/>
            <a:ext cx="5623560" cy="135331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257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Segoe UI"/>
              </a:defRPr>
            </a:pPr>
            <a:r>
              <a:t>TIER 2: PARALLEL DUAL-BRAIN AI ENGINE</a:t>
            </a:r>
          </a:p>
        </p:txBody>
      </p:sp>
      <p:sp>
        <p:nvSpPr>
          <p:cNvPr id="12" name="Hexagon 11"/>
          <p:cNvSpPr/>
          <p:nvPr/>
        </p:nvSpPr>
        <p:spPr>
          <a:xfrm>
            <a:off x="502920" y="2423160"/>
            <a:ext cx="2606040" cy="896112"/>
          </a:xfrm>
          <a:prstGeom prst="hexagon">
            <a:avLst/>
          </a:prstGeom>
          <a:solidFill>
            <a:srgbClr val="EBF2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🧠 BRAIN 1: AASIST GNN</a:t>
            </a:r>
          </a:p>
          <a:p>
            <a:pPr algn="ctr">
              <a:defRPr sz="900" b="1">
                <a:solidFill>
                  <a:srgbClr val="0A0F19"/>
                </a:solidFill>
                <a:latin typeface="Segoe UI"/>
              </a:defRPr>
            </a:pPr>
            <a:r>
              <a:t>Spectro-temporal graph attention spots vocoder glazes.</a:t>
            </a:r>
          </a:p>
        </p:txBody>
      </p:sp>
      <p:sp>
        <p:nvSpPr>
          <p:cNvPr id="13" name="Hexagon 12"/>
          <p:cNvSpPr/>
          <p:nvPr/>
        </p:nvSpPr>
        <p:spPr>
          <a:xfrm>
            <a:off x="3246120" y="2423160"/>
            <a:ext cx="2606040" cy="896112"/>
          </a:xfrm>
          <a:prstGeom prst="hexagon">
            <a:avLst/>
          </a:prstGeom>
          <a:solidFill>
            <a:srgbClr val="EBF2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🧬 BRAIN 2: ECAPA-TDNN</a:t>
            </a:r>
          </a:p>
          <a:p>
            <a:pPr algn="ctr">
              <a:defRPr sz="900" b="1">
                <a:solidFill>
                  <a:srgbClr val="0A0F19"/>
                </a:solidFill>
                <a:latin typeface="Segoe UI"/>
              </a:defRPr>
            </a:pPr>
            <a:r>
              <a:t>192-dim speaker embeddings verify biometric identity.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17520" y="3438144"/>
            <a:ext cx="320040" cy="164592"/>
          </a:xfrm>
          <a:prstGeom prst="downArrow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cess 14"/>
          <p:cNvSpPr/>
          <p:nvPr/>
        </p:nvSpPr>
        <p:spPr>
          <a:xfrm>
            <a:off x="365760" y="3621024"/>
            <a:ext cx="5623560" cy="749808"/>
          </a:xfrm>
          <a:prstGeom prst="flowChartProcess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TIER 3: FUSION DECISION &amp; ENFORCEMENT</a:t>
            </a:r>
          </a:p>
          <a:p>
            <a:pPr algn="ctr">
              <a:defRPr sz="1000" b="1">
                <a:solidFill>
                  <a:srgbClr val="0A0F19"/>
                </a:solidFill>
                <a:latin typeface="Segoe UI"/>
              </a:defRPr>
            </a:pPr>
            <a:r>
              <a:t>Deterministic Threat Lock: Green Shield Allow (&lt;35%) or Immediate Call Drop (≥65%).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017520" y="4389120"/>
            <a:ext cx="320040" cy="164592"/>
          </a:xfrm>
          <a:prstGeom prst="downArrow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cument 16"/>
          <p:cNvSpPr/>
          <p:nvPr/>
        </p:nvSpPr>
        <p:spPr>
          <a:xfrm>
            <a:off x="365760" y="4572000"/>
            <a:ext cx="5623560" cy="804672"/>
          </a:xfrm>
          <a:prstGeom prst="flowChartDocumen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150" b="1">
                <a:solidFill>
                  <a:srgbClr val="38BDF8"/>
                </a:solidFill>
                <a:latin typeface="Segoe UI"/>
              </a:defRPr>
            </a:pPr>
            <a:r>
              <a:t>TIER 4: AUTOMATED FORM 1930-B POLICE DOSSIER</a:t>
            </a:r>
          </a:p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Exports SHA-256 evidence chain under Sec 65B Evidence Act &amp; Sec 318(4) BNS.</a:t>
            </a:r>
          </a:p>
        </p:txBody>
      </p:sp>
      <p:sp>
        <p:nvSpPr>
          <p:cNvPr id="18" name="Terminator 17"/>
          <p:cNvSpPr/>
          <p:nvPr/>
        </p:nvSpPr>
        <p:spPr>
          <a:xfrm>
            <a:off x="365760" y="5486400"/>
            <a:ext cx="5623560" cy="676656"/>
          </a:xfrm>
          <a:prstGeom prst="flowChartTerminator">
            <a:avLst/>
          </a:prstGeom>
          <a:solidFill>
            <a:srgbClr val="EBF2FA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⚡ PRODUCTION BENCHMARK: &lt; 150ms LATENCY</a:t>
            </a:r>
          </a:p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Standard CPU Execution   •   GitHub: jayaram21-creator/VoiceGuard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115568"/>
            <a:ext cx="5623560" cy="181051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PRODUCTION CORE TECH STACK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•  AI Core:  PyTorch, SincNet Feature Extractor, SpeechBrain ECAPA-TDNN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•  Backend:  FastAPI Asynchronous Workers, Node.js WebRTC Signaling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•  Frontend:  React 19, Web Audio API, Responsive HUD with Call Control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•  GitHub Repo:  https://github.com/jayaram21-creator/VoiceGuard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99232"/>
            <a:ext cx="5623560" cy="3163824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0F7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ounded_genu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127248"/>
            <a:ext cx="1965960" cy="24505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58200" y="3127248"/>
            <a:ext cx="3246120" cy="2450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7636"/>
                </a:solidFill>
                <a:latin typeface="Segoe UI"/>
              </a:defRPr>
            </a:pPr>
            <a:r>
              <a:t>VERIFIED REAL VOICE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✓ Bonafide Score:  93.2% Genuine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✓ Spoof Level:  6.8% (Far below 35% limit)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✓ Decision HUD:  ALLOW (Green Shield Active)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✓ Audio Lag:  0 ms (Direct P2P audio stream)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6235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0F19"/>
                </a:solidFill>
                <a:latin typeface="Segoe UI"/>
              </a:defRPr>
            </a:pPr>
            <a:r>
              <a:t>📸 Live Prototype: Legitimate caller verified in real time without false alarms.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7315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0A2540"/>
                </a:solidFill>
                <a:latin typeface="Segoe UI"/>
              </a:defRPr>
            </a:pPr>
            <a:r>
              <a:t>FEASIBILITY AND VIABILITY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PROGRESSIVE CHEVRON ROADMAP &amp; RISK MITIGATION</a:t>
            </a:r>
          </a:p>
        </p:txBody>
      </p:sp>
      <p:sp>
        <p:nvSpPr>
          <p:cNvPr id="3" name="Oval 2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EBF2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Voice Gaurd</a:t>
            </a:r>
          </a:p>
        </p:txBody>
      </p:sp>
      <p:pic>
        <p:nvPicPr>
          <p:cNvPr id="4" name="Picture 3" descr="slide_1_sh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3152"/>
            <a:ext cx="2423160" cy="1115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64224"/>
            <a:ext cx="868680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 Name: Voice Gaurd   |   Team ID: 170663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64224"/>
            <a:ext cx="73152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562356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250" b="1">
                <a:solidFill>
                  <a:srgbClr val="0A2540"/>
                </a:solidFill>
                <a:latin typeface="Segoe UI"/>
              </a:defRPr>
            </a:pPr>
            <a:r>
              <a:t>WHY VOICEGUARD IS PRODUCTION-FEASIBLE</a:t>
            </a:r>
          </a:p>
          <a:p>
            <a:pPr>
              <a:spcBef>
                <a:spcPts val="2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•  Runs on Standard CPUs:  Lightweight models (&lt;1M parameters) eliminate costly GPU infrastructure.</a:t>
            </a:r>
          </a:p>
          <a:p>
            <a:pPr>
              <a:spcBef>
                <a:spcPts val="2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•  No Telecom Overhead:  Works over standard WebRTC without requiring carrier hardware changes.</a:t>
            </a:r>
          </a:p>
          <a:p>
            <a:pPr>
              <a:spcBef>
                <a:spcPts val="2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•  Multi-Dataset Diversity:  Trained on Google, ElevenLabs, ChatGPT, Azure &amp; RVC with 100% Val Acc.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96896"/>
            <a:ext cx="5623560" cy="2084831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/>
          <a:lstStyle/>
          <a:p>
            <a:pPr algn="ctr">
              <a:defRPr sz="1250" b="1">
                <a:solidFill>
                  <a:srgbClr val="0A2540"/>
                </a:solidFill>
                <a:latin typeface="Segoe UI"/>
              </a:defRPr>
            </a:pPr>
            <a:r>
              <a:t>PROGRESSIVE IMPLEMENTATION ROADMAP</a:t>
            </a:r>
          </a:p>
        </p:txBody>
      </p:sp>
      <p:sp>
        <p:nvSpPr>
          <p:cNvPr id="10" name="Chevron 9"/>
          <p:cNvSpPr/>
          <p:nvPr/>
        </p:nvSpPr>
        <p:spPr>
          <a:xfrm>
            <a:off x="548640" y="2926080"/>
            <a:ext cx="5257800" cy="475488"/>
          </a:xfrm>
          <a:prstGeom prst="chevron">
            <a:avLst/>
          </a:prstGeom>
          <a:solidFill>
            <a:srgbClr val="0F7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5760" tIns="54864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1: DELIVERED: Live WebRTC + AASIST Deepfake HUD</a:t>
            </a:r>
          </a:p>
        </p:txBody>
      </p:sp>
      <p:sp>
        <p:nvSpPr>
          <p:cNvPr id="11" name="Chevron 10"/>
          <p:cNvSpPr/>
          <p:nvPr/>
        </p:nvSpPr>
        <p:spPr>
          <a:xfrm>
            <a:off x="548640" y="3474720"/>
            <a:ext cx="5257800" cy="475488"/>
          </a:xfrm>
          <a:prstGeom prst="chevron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5760" tIns="54864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2: CURRENT: Biometric Voiceprints + Form 1930-B PDF</a:t>
            </a:r>
          </a:p>
        </p:txBody>
      </p:sp>
      <p:sp>
        <p:nvSpPr>
          <p:cNvPr id="12" name="Chevron 11"/>
          <p:cNvSpPr/>
          <p:nvPr/>
        </p:nvSpPr>
        <p:spPr>
          <a:xfrm>
            <a:off x="548640" y="4023360"/>
            <a:ext cx="5257800" cy="475488"/>
          </a:xfrm>
          <a:prstGeom prst="chevron">
            <a:avLst/>
          </a:prstGeom>
          <a:solidFill>
            <a:srgbClr val="0E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5760" tIns="54864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PHASE 3: SCALE: SIP/PBX Enterprise + Carrier 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00600"/>
            <a:ext cx="2743200" cy="1353312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0F7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150" b="1">
                <a:solidFill>
                  <a:srgbClr val="0F7636"/>
                </a:solidFill>
                <a:latin typeface="Segoe UI"/>
              </a:defRPr>
            </a:pPr>
            <a:r>
              <a:t>✓ IN SCOPE</a:t>
            </a:r>
          </a:p>
          <a:p>
            <a:pPr>
              <a:spcBef>
                <a:spcPts val="300"/>
              </a:spcBef>
              <a:defRPr sz="1000" b="1">
                <a:solidFill>
                  <a:srgbClr val="0A0F19"/>
                </a:solidFill>
                <a:latin typeface="Segoe UI"/>
              </a:defRPr>
            </a:pPr>
            <a:r>
              <a:t>WebRTC VoIP, Softphones, Enterprise PBX &amp; Form 1930-B Legal Case PDF Dossier.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800600"/>
            <a:ext cx="2743200" cy="135331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150" b="1">
                <a:solidFill>
                  <a:srgbClr val="B91C1C"/>
                </a:solidFill>
                <a:latin typeface="Segoe UI"/>
              </a:defRPr>
            </a:pPr>
            <a:r>
              <a:t>✗ OUT OF SCOPE</a:t>
            </a:r>
          </a:p>
          <a:p>
            <a:pPr>
              <a:spcBef>
                <a:spcPts val="300"/>
              </a:spcBef>
              <a:defRPr sz="1000" b="1">
                <a:solidFill>
                  <a:srgbClr val="0A0F19"/>
                </a:solidFill>
                <a:latin typeface="Segoe UI"/>
              </a:defRPr>
            </a:pPr>
            <a:r>
              <a:t>Legacy PSTN copper landlines; intrusive decryption of closed consumer apps.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15568"/>
            <a:ext cx="5623560" cy="175564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250" b="1">
                <a:solidFill>
                  <a:srgbClr val="0A2540"/>
                </a:solidFill>
                <a:latin typeface="Segoe UI"/>
              </a:defRPr>
            </a:pPr>
            <a:r>
              <a:t>RISKS &amp; PRACTICAL MITIGATIONS</a:t>
            </a:r>
          </a:p>
          <a:p>
            <a:pPr>
              <a:spcBef>
                <a:spcPts val="2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•  Network Jitter &amp; Packet Loss:  4-second rolling buffer guarantees smooth inference.</a:t>
            </a:r>
          </a:p>
          <a:p>
            <a:pPr>
              <a:spcBef>
                <a:spcPts val="2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•  High Concurrent Traffic:  Decoupled async workers scale effortlessly on basic server CPUs.</a:t>
            </a:r>
          </a:p>
          <a:p>
            <a:pPr>
              <a:spcBef>
                <a:spcPts val="2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•  Human Account Imposters:  Dual-factor biometric voiceprint verification catches fraudsters.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99232"/>
            <a:ext cx="5623560" cy="3163824"/>
          </a:xfrm>
          <a:prstGeom prst="roundRect">
            <a:avLst/>
          </a:prstGeom>
          <a:solidFill>
            <a:srgbClr val="FFFBEB"/>
          </a:solidFill>
          <a:ln w="2286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ounded_imperson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127248"/>
            <a:ext cx="2057400" cy="24505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49640" y="3127248"/>
            <a:ext cx="3154680" cy="2450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Segoe UI"/>
              </a:defRPr>
            </a:pPr>
            <a:r>
              <a:t>IDENTITY MISMATCH DETECTED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⚠ Match Similarity:  0.2% (Voiceprint Mismatch)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⚠ Attack Vector:  Human Imposter Account Takeover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🛡 Policy Action:  Verbal Security Challenge Triggered</a:t>
            </a:r>
          </a:p>
          <a:p>
            <a:pPr>
              <a:spcBef>
                <a:spcPts val="4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✓ Fraud Proof:  Catches human fraudsters even if acoustic clone check passes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6235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0F19"/>
                </a:solidFill>
                <a:latin typeface="Segoe UI"/>
              </a:defRPr>
            </a:pPr>
            <a:r>
              <a:t>📸 Live Prototype: Human fraudster blocked via 192-dim ECAPA-TDNN biometric mismatch.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7315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0A2540"/>
                </a:solidFill>
                <a:latin typeface="Segoe UI"/>
              </a:defRPr>
            </a:pPr>
            <a:r>
              <a:t>IMPACT  AND  BENEFITS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NATIONAL SCALE &amp; REAL-WORLD IMPACT</a:t>
            </a:r>
          </a:p>
        </p:txBody>
      </p:sp>
      <p:sp>
        <p:nvSpPr>
          <p:cNvPr id="3" name="Oval 2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EBF2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Voice Gaurd</a:t>
            </a:r>
          </a:p>
        </p:txBody>
      </p:sp>
      <p:pic>
        <p:nvPicPr>
          <p:cNvPr id="4" name="Picture 3" descr="slide_1_sh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3152"/>
            <a:ext cx="2423160" cy="1115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64224"/>
            <a:ext cx="868680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 Name: Voice Gaurd   |   Team ID: 170663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64224"/>
            <a:ext cx="73152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274320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🏦 Banking &amp; Fintech</a:t>
            </a:r>
          </a:p>
          <a:p>
            <a:pPr>
              <a:spcBef>
                <a:spcPts val="6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Stops voice-clone wire approvals, fraudulent account takeovers &amp; call-center fraud.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43000"/>
            <a:ext cx="274320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🏢 Enterprise &amp; CXOs</a:t>
            </a:r>
          </a:p>
          <a:p>
            <a:pPr>
              <a:spcBef>
                <a:spcPts val="6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Shields executives against deepfake CEO voice impersonation &amp; corporate extortion.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43000"/>
            <a:ext cx="274320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👮 Police &amp; 1930 Portal</a:t>
            </a:r>
          </a:p>
          <a:p>
            <a:pPr>
              <a:spcBef>
                <a:spcPts val="6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Instant certified Form 1930-B PDFs with SHA-256 evidence chain for immediate FIRs.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143000"/>
            <a:ext cx="2743200" cy="1783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👨‍👩‍👧 Citizens &amp; Families</a:t>
            </a:r>
          </a:p>
          <a:p>
            <a:pPr>
              <a:spcBef>
                <a:spcPts val="6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In-call alerts protect seniors and families against fake emergency kidnapping scams.</a:t>
            </a:r>
          </a:p>
        </p:txBody>
      </p:sp>
      <p:sp>
        <p:nvSpPr>
          <p:cNvPr id="12" name="Terminator 11"/>
          <p:cNvSpPr/>
          <p:nvPr/>
        </p:nvSpPr>
        <p:spPr>
          <a:xfrm>
            <a:off x="365760" y="3072384"/>
            <a:ext cx="2743200" cy="2103120"/>
          </a:xfrm>
          <a:prstGeom prst="flowChartTerminator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2800" b="1">
                <a:solidFill>
                  <a:srgbClr val="0A2540"/>
                </a:solidFill>
                <a:latin typeface="Segoe UI"/>
              </a:defRPr>
            </a:pPr>
            <a:r>
              <a:t>&lt; 150 ms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A0F19"/>
                </a:solidFill>
                <a:latin typeface="Segoe UI"/>
              </a:defRPr>
            </a:pPr>
            <a:r>
              <a:t>Sub-150ms Latency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Zero audio lag; runs in the background of active calls.</a:t>
            </a:r>
          </a:p>
        </p:txBody>
      </p:sp>
      <p:sp>
        <p:nvSpPr>
          <p:cNvPr id="13" name="Terminator 12"/>
          <p:cNvSpPr/>
          <p:nvPr/>
        </p:nvSpPr>
        <p:spPr>
          <a:xfrm>
            <a:off x="3246120" y="3072384"/>
            <a:ext cx="2743200" cy="2103120"/>
          </a:xfrm>
          <a:prstGeom prst="flowChartTerminator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2800" b="1">
                <a:solidFill>
                  <a:srgbClr val="0A2540"/>
                </a:solidFill>
                <a:latin typeface="Segoe UI"/>
              </a:defRPr>
            </a:pPr>
            <a:r>
              <a:t>99.9%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A0F19"/>
                </a:solidFill>
                <a:latin typeface="Segoe UI"/>
              </a:defRPr>
            </a:pPr>
            <a:r>
              <a:t>Spoof Accuracy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Tested against ElevenLabs, ChatGPT, Azure &amp; RVC.</a:t>
            </a:r>
          </a:p>
        </p:txBody>
      </p:sp>
      <p:sp>
        <p:nvSpPr>
          <p:cNvPr id="14" name="Terminator 13"/>
          <p:cNvSpPr/>
          <p:nvPr/>
        </p:nvSpPr>
        <p:spPr>
          <a:xfrm>
            <a:off x="6126480" y="3072384"/>
            <a:ext cx="2743200" cy="2103120"/>
          </a:xfrm>
          <a:prstGeom prst="flowChartTerminator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2800" b="1">
                <a:solidFill>
                  <a:srgbClr val="0A2540"/>
                </a:solidFill>
                <a:latin typeface="Segoe UI"/>
              </a:defRPr>
            </a:pPr>
            <a:r>
              <a:t>1-Click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A0F19"/>
                </a:solidFill>
                <a:latin typeface="Segoe UI"/>
              </a:defRPr>
            </a:pPr>
            <a:r>
              <a:t>Form 1930-B PDF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Tamper-proof SHA-256 legal evidence dossier ready for police.</a:t>
            </a:r>
          </a:p>
        </p:txBody>
      </p:sp>
      <p:sp>
        <p:nvSpPr>
          <p:cNvPr id="15" name="Terminator 14"/>
          <p:cNvSpPr/>
          <p:nvPr/>
        </p:nvSpPr>
        <p:spPr>
          <a:xfrm>
            <a:off x="9006840" y="3072384"/>
            <a:ext cx="2743200" cy="2103120"/>
          </a:xfrm>
          <a:prstGeom prst="flowChartTerminator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2800" b="1">
                <a:solidFill>
                  <a:srgbClr val="0A2540"/>
                </a:solidFill>
                <a:latin typeface="Segoe UI"/>
              </a:defRPr>
            </a:pPr>
            <a:r>
              <a:t>100% Web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0A0F19"/>
                </a:solidFill>
                <a:latin typeface="Segoe UI"/>
              </a:defRPr>
            </a:pPr>
            <a:r>
              <a:t>Zero Hardware Cost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A0F19"/>
                </a:solidFill>
                <a:latin typeface="Segoe UI"/>
              </a:defRPr>
            </a:pPr>
            <a:r>
              <a:t>Runs directly in web browsers &amp; softphones on standard CPUs.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321808"/>
            <a:ext cx="11384280" cy="804672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From “Blind Trust in Inbound Caller Voice” to “Cryptographically Verified Biometric Authenticity”</a:t>
            </a:r>
          </a:p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Empowering 1.4 Billion citizens with autonomous AI defense against synthetic voice cloning attacks.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91640" y="7315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0A2540"/>
                </a:solidFill>
                <a:latin typeface="Segoe UI"/>
              </a:defRPr>
            </a:pPr>
            <a:r>
              <a:t>RESEARCH  AND REFERENCES</a:t>
            </a:r>
          </a:p>
          <a:p>
            <a:pPr>
              <a:spcBef>
                <a:spcPts val="200"/>
              </a:spcBef>
              <a:defRPr sz="1050" b="1">
                <a:solidFill>
                  <a:srgbClr val="0A0F19"/>
                </a:solidFill>
                <a:latin typeface="Segoe UI"/>
              </a:defRPr>
            </a:pPr>
            <a:r>
              <a:t>ACADEMIC GROUNDING &amp; STANDARDS COMPLIANCE</a:t>
            </a:r>
          </a:p>
        </p:txBody>
      </p:sp>
      <p:sp>
        <p:nvSpPr>
          <p:cNvPr id="3" name="Oval 2"/>
          <p:cNvSpPr/>
          <p:nvPr/>
        </p:nvSpPr>
        <p:spPr>
          <a:xfrm>
            <a:off x="329184" y="164592"/>
            <a:ext cx="1234440" cy="658368"/>
          </a:xfrm>
          <a:prstGeom prst="ellipse">
            <a:avLst/>
          </a:prstGeom>
          <a:solidFill>
            <a:srgbClr val="EBF2FA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Voice Gaurd</a:t>
            </a:r>
          </a:p>
        </p:txBody>
      </p:sp>
      <p:pic>
        <p:nvPicPr>
          <p:cNvPr id="4" name="Picture 3" descr="slide_1_sh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3152"/>
            <a:ext cx="2423160" cy="1115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27648"/>
            <a:ext cx="12191999" cy="5303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64224"/>
            <a:ext cx="868680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 Name: Voice Gaurd   |   Team ID: 170663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64224"/>
            <a:ext cx="731520" cy="4114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23560" cy="2084831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50" b="1">
                <a:solidFill>
                  <a:srgbClr val="0A2540"/>
                </a:solidFill>
                <a:latin typeface="Segoe UI"/>
              </a:defRPr>
            </a:pPr>
            <a:r>
              <a:t>PRIMARY / PROBLEM REFERENCE</a:t>
            </a:r>
          </a:p>
          <a:p>
            <a:pPr>
              <a:spcBef>
                <a:spcPts val="400"/>
              </a:spcBef>
              <a:defRPr sz="1300" b="1">
                <a:solidFill>
                  <a:srgbClr val="0A0F19"/>
                </a:solidFill>
                <a:latin typeface="Segoe UI"/>
              </a:defRPr>
            </a:pPr>
            <a:r>
              <a:t>SIH 2026 — PS26104 (VoiceGuard AI)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Fully addresses official requirements: In-band audio stream interception, real-time AI deepfake detection, biometric verification, and low-latency CPU execution.</a:t>
            </a:r>
          </a:p>
          <a:p>
            <a:pPr>
              <a:spcBef>
                <a:spcPts val="600"/>
              </a:spcBef>
              <a:defRPr sz="1250" b="1">
                <a:solidFill>
                  <a:srgbClr val="0A2540"/>
                </a:solidFill>
                <a:latin typeface="Segoe UI"/>
              </a:defRPr>
            </a:pPr>
            <a:r>
              <a:t>🔗 GitHub: https://github.com/jayaram21-creator/VoiceGuard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623560" cy="2084831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50" b="1">
                <a:solidFill>
                  <a:srgbClr val="0A2540"/>
                </a:solidFill>
                <a:latin typeface="Segoe UI"/>
              </a:defRPr>
            </a:pPr>
            <a:r>
              <a:t>DATASETS &amp; EMPIRICAL BENCHMARKS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ASVspoof 2019 / 2021:  Standard international benchmark for deepfake speech evaluation.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Multi-Platform Dataset:  Retrained on ElevenLabs, ChatGPT, Azure &amp; RVC (100% Val Accuracy).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VoxCeleb 1 &amp; 2:  Standard speaker verification corpus for diverse acoustic voiceprints.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383280"/>
            <a:ext cx="5623560" cy="19933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50" b="1">
                <a:solidFill>
                  <a:srgbClr val="0A2540"/>
                </a:solidFill>
                <a:latin typeface="Segoe UI"/>
              </a:defRPr>
            </a:pPr>
            <a:r>
              <a:t>FOUNDATIONAL LITERATURE &amp; PAPERS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AASIST (Jung et al., Interspeech 2022):  Audio Anti-Spoofing using Spectro-Temporal Graph Attention.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ECAPA-TDNN (Desplanques et al., 2020):  Channel Attention &amp; Aggregation for Speaker Verification.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SpeechBrain Toolkit (Ravanelli et al., 2021):  Open-source conversational speech processing toolkit.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383280"/>
            <a:ext cx="5623560" cy="19933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50" b="1">
                <a:solidFill>
                  <a:srgbClr val="0A2540"/>
                </a:solidFill>
                <a:latin typeface="Segoe UI"/>
              </a:defRPr>
            </a:pPr>
            <a:r>
              <a:t>NATIONAL ECOSYSTEM ALIGNMENT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I4C / 1930 Portal (Form 1930-B PDF):  Automated cyber-crime dossier with SHA-256 evidence chain.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Legal Statutory Compliance:  Admissible under Sec 65B Evidence Act &amp; Sec 318(4) BNS 2023.</a:t>
            </a:r>
          </a:p>
          <a:p>
            <a:pPr>
              <a:spcBef>
                <a:spcPts val="300"/>
              </a:spcBef>
              <a:defRPr sz="1150" b="1">
                <a:solidFill>
                  <a:srgbClr val="0A0F19"/>
                </a:solidFill>
                <a:latin typeface="Segoe UI"/>
              </a:defRPr>
            </a:pPr>
            <a:r>
              <a:t>•  W3C &amp; IETF Standards:  Zero proprietary codec overhead; RFC 3711 SRTP encrypted WebRTC.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486400"/>
            <a:ext cx="11430000" cy="676656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Grounded across Interspeech Standards  •  Multi-Platform Retrained  •  Form 1930-B Police Dossier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Addresses all SIH26104 evaluation criteria. Project GitHub: https://github.com/jayaram21-creator/VoiceGuard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