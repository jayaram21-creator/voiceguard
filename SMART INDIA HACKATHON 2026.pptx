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606" autoAdjust="0"/>
    <p:restoredTop sz="94660"/>
  </p:normalViewPr>
  <p:slideViewPr>
    <p:cSldViewPr snapToGrid="0" snapToObjects="1">
      <p:cViewPr>
        <p:scale>
          <a:sx n="92" d="100"/>
          <a:sy n="92" d="100"/>
        </p:scale>
        <p:origin x="538" y="53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9/5/2026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9/5/2026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Ask the Satellite. See the Evidence.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sz="1500" b="0">
                <a:latin typeface="Arial"/>
              </a:rPr>
              <a:t>SIH26167</a:t>
            </a:r>
          </a:p>
          <a:p>
            <a:pPr marL="285750" indent="-285750" algn="just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sz="1500" b="0">
                <a:latin typeface="Arial"/>
              </a:rPr>
              <a:t>SatQuery AI – VLM Assistant for Remote Sensing Image Analysis</a:t>
            </a:r>
          </a:p>
          <a:p>
            <a:pPr marL="285750" indent="-285750" algn="just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sz="1500" b="0">
                <a:latin typeface="Arial"/>
              </a:rPr>
              <a:t>Space Technology</a:t>
            </a:r>
          </a:p>
          <a:p>
            <a:pPr marL="285750" indent="-285750" algn="just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sz="1500" b="0">
                <a:latin typeface="Arial"/>
              </a:rPr>
              <a:t>Software</a:t>
            </a:r>
          </a:p>
          <a:p>
            <a:pPr marL="285750" indent="-285750" algn="just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Team ID- </a:t>
            </a:r>
            <a:r>
              <a:rPr sz="1500" b="0">
                <a:latin typeface="Arial"/>
              </a:rPr>
              <a:t>[Your Team ID]</a:t>
            </a:r>
          </a:p>
          <a:p>
            <a:pPr marL="285750" indent="-285750" algn="just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Team Name- </a:t>
            </a:r>
            <a:r>
              <a:rPr sz="1500" b="0">
                <a:latin typeface="Arial"/>
              </a:rPr>
              <a:t>[Your Registered Team Name]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365760" y="1005840"/>
            <a:ext cx="11430000" cy="36576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Autofit/>
          </a:bodyPr>
          <a:lstStyle/>
          <a:p>
            <a:pPr algn="ctr"/>
            <a:r>
              <a:rPr sz="1500" b="0" i="1" dirty="0" err="1">
                <a:solidFill>
                  <a:srgbClr val="029690"/>
                </a:solidFill>
                <a:latin typeface="Arial"/>
              </a:rPr>
              <a:t>SatQuery</a:t>
            </a:r>
            <a:r>
              <a:rPr sz="1500" b="0" i="1" dirty="0">
                <a:solidFill>
                  <a:srgbClr val="029690"/>
                </a:solidFill>
                <a:latin typeface="Arial"/>
              </a:rPr>
              <a:t> AI — Evidence-Grounded Agentic Intelligence for Remote-Sensing Imagery</a:t>
            </a:r>
          </a:p>
        </p:txBody>
      </p:sp>
      <p:sp>
        <p:nvSpPr>
          <p:cNvPr id="15363" name="TextBox 15362"/>
          <p:cNvSpPr txBox="1"/>
          <p:nvPr/>
        </p:nvSpPr>
        <p:spPr>
          <a:xfrm>
            <a:off x="368386" y="1415545"/>
            <a:ext cx="5532120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/>
            <a:r>
              <a:rPr sz="1700" b="1" i="0" dirty="0">
                <a:solidFill>
                  <a:srgbClr val="0070C0"/>
                </a:solidFill>
                <a:latin typeface="Arial"/>
              </a:rPr>
              <a:t>Proposed Solution</a:t>
            </a:r>
          </a:p>
        </p:txBody>
      </p:sp>
      <p:sp>
        <p:nvSpPr>
          <p:cNvPr id="15364" name="TextBox 15363"/>
          <p:cNvSpPr txBox="1"/>
          <p:nvPr/>
        </p:nvSpPr>
        <p:spPr>
          <a:xfrm>
            <a:off x="314039" y="1741813"/>
            <a:ext cx="5532120" cy="8686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600" b="0" i="0" dirty="0">
                <a:solidFill>
                  <a:srgbClr val="222B33"/>
                </a:solidFill>
                <a:latin typeface="Arial"/>
              </a:rPr>
              <a:t>A natural-language AI assistant for satellite imagery that automatically selects the right remote-sensing AI tool for a query and returns an answer backed by visible evidence — instead of a generic VLM guessing at an image.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338328" y="2905879"/>
            <a:ext cx="1627632" cy="923225"/>
          </a:xfrm>
          <a:prstGeom prst="roundRect">
            <a:avLst>
              <a:gd name="adj" fmla="val 10000"/>
            </a:avLst>
          </a:prstGeom>
          <a:solidFill>
            <a:srgbClr val="EAF3FB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366" name="TextBox 15365"/>
          <p:cNvSpPr txBox="1"/>
          <p:nvPr/>
        </p:nvSpPr>
        <p:spPr>
          <a:xfrm>
            <a:off x="368386" y="3048219"/>
            <a:ext cx="1536192" cy="638543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i="0" dirty="0">
                <a:solidFill>
                  <a:srgbClr val="0D2A4A"/>
                </a:solidFill>
                <a:latin typeface="Arial"/>
              </a:rPr>
              <a:t>Image + Query</a:t>
            </a:r>
            <a:endParaRPr lang="en-US" sz="1400" b="1" i="0" dirty="0">
              <a:solidFill>
                <a:srgbClr val="0D2A4A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454F58"/>
                </a:solidFill>
                <a:latin typeface="Arial"/>
              </a:rPr>
              <a:t>~ </a:t>
            </a:r>
            <a:r>
              <a:rPr lang="en-US" sz="1050" dirty="0">
                <a:solidFill>
                  <a:srgbClr val="454F58"/>
                </a:solidFill>
                <a:latin typeface="Arial"/>
              </a:rPr>
              <a:t> </a:t>
            </a:r>
            <a:r>
              <a:rPr sz="1400" b="0" i="0" dirty="0">
                <a:solidFill>
                  <a:srgbClr val="454F58"/>
                </a:solidFill>
                <a:latin typeface="Arial"/>
              </a:rPr>
              <a:t>user input</a:t>
            </a:r>
          </a:p>
        </p:txBody>
      </p:sp>
      <p:sp>
        <p:nvSpPr>
          <p:cNvPr id="15367" name="TextBox 15366"/>
          <p:cNvSpPr txBox="1"/>
          <p:nvPr/>
        </p:nvSpPr>
        <p:spPr>
          <a:xfrm>
            <a:off x="1885741" y="3090671"/>
            <a:ext cx="4572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100" b="1" i="0" dirty="0">
                <a:solidFill>
                  <a:srgbClr val="0D2A4A"/>
                </a:solidFill>
                <a:latin typeface="Arial"/>
              </a:rPr>
              <a:t>→</a:t>
            </a:r>
          </a:p>
        </p:txBody>
      </p:sp>
      <p:sp>
        <p:nvSpPr>
          <p:cNvPr id="15368" name="Rounded Rectangle 15367"/>
          <p:cNvSpPr/>
          <p:nvPr/>
        </p:nvSpPr>
        <p:spPr>
          <a:xfrm>
            <a:off x="2278933" y="2909079"/>
            <a:ext cx="1737360" cy="923226"/>
          </a:xfrm>
          <a:prstGeom prst="roundRect">
            <a:avLst>
              <a:gd name="adj" fmla="val 10000"/>
            </a:avLst>
          </a:prstGeom>
          <a:solidFill>
            <a:srgbClr val="EAF3FB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9" name="TextBox 15368"/>
          <p:cNvSpPr txBox="1"/>
          <p:nvPr/>
        </p:nvSpPr>
        <p:spPr>
          <a:xfrm>
            <a:off x="2391156" y="3090353"/>
            <a:ext cx="1536192" cy="56692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i="0" dirty="0">
                <a:solidFill>
                  <a:srgbClr val="0D2A4A"/>
                </a:solidFill>
                <a:latin typeface="Arial"/>
              </a:rPr>
              <a:t>   </a:t>
            </a:r>
            <a:r>
              <a:rPr sz="1400" b="1" i="0" dirty="0">
                <a:solidFill>
                  <a:srgbClr val="0D2A4A"/>
                </a:solidFill>
                <a:latin typeface="Arial"/>
              </a:rPr>
              <a:t>Agentic Router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solidFill>
                  <a:srgbClr val="454F58"/>
                </a:solidFill>
                <a:latin typeface="Arial"/>
              </a:rPr>
              <a:t>~</a:t>
            </a:r>
            <a:r>
              <a:rPr sz="1400" b="0" i="0" dirty="0">
                <a:solidFill>
                  <a:srgbClr val="454F58"/>
                </a:solidFill>
                <a:latin typeface="Arial"/>
              </a:rPr>
              <a:t> Specialist AI</a:t>
            </a:r>
          </a:p>
        </p:txBody>
      </p:sp>
      <p:sp>
        <p:nvSpPr>
          <p:cNvPr id="15370" name="TextBox 15369"/>
          <p:cNvSpPr txBox="1"/>
          <p:nvPr/>
        </p:nvSpPr>
        <p:spPr>
          <a:xfrm>
            <a:off x="3927348" y="2935542"/>
            <a:ext cx="457200" cy="59404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100" b="1" i="0" dirty="0">
                <a:solidFill>
                  <a:srgbClr val="0D2A4A"/>
                </a:solidFill>
                <a:latin typeface="Arial"/>
              </a:rPr>
              <a:t>→</a:t>
            </a:r>
          </a:p>
        </p:txBody>
      </p:sp>
      <p:sp>
        <p:nvSpPr>
          <p:cNvPr id="15371" name="Rounded Rectangle 15370"/>
          <p:cNvSpPr/>
          <p:nvPr/>
        </p:nvSpPr>
        <p:spPr>
          <a:xfrm>
            <a:off x="4336161" y="2904468"/>
            <a:ext cx="1682496" cy="923226"/>
          </a:xfrm>
          <a:prstGeom prst="roundRect">
            <a:avLst>
              <a:gd name="adj" fmla="val 10000"/>
            </a:avLst>
          </a:prstGeom>
          <a:solidFill>
            <a:srgbClr val="FDF2DD"/>
          </a:solidFill>
          <a:ln w="12700">
            <a:solidFill>
              <a:srgbClr val="E08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2" name="TextBox 15371"/>
          <p:cNvSpPr txBox="1"/>
          <p:nvPr/>
        </p:nvSpPr>
        <p:spPr>
          <a:xfrm>
            <a:off x="4359782" y="3084027"/>
            <a:ext cx="1635253" cy="56692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i="0" dirty="0">
                <a:solidFill>
                  <a:srgbClr val="0D2A4A"/>
                </a:solidFill>
                <a:latin typeface="Arial"/>
              </a:rPr>
              <a:t>Evidence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solidFill>
                  <a:srgbClr val="454F58"/>
                </a:solidFill>
                <a:latin typeface="Arial"/>
              </a:rPr>
              <a:t>~</a:t>
            </a:r>
            <a:r>
              <a:rPr sz="1400" b="0" i="0" dirty="0">
                <a:solidFill>
                  <a:srgbClr val="454F58"/>
                </a:solidFill>
                <a:latin typeface="Arial"/>
              </a:rPr>
              <a:t> Verified Answer</a:t>
            </a:r>
          </a:p>
        </p:txBody>
      </p:sp>
      <p:sp>
        <p:nvSpPr>
          <p:cNvPr id="15373" name="TextBox 15372"/>
          <p:cNvSpPr txBox="1"/>
          <p:nvPr/>
        </p:nvSpPr>
        <p:spPr>
          <a:xfrm>
            <a:off x="289561" y="3940745"/>
            <a:ext cx="55321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/>
            <a:r>
              <a:rPr sz="1700" b="1" i="0" dirty="0">
                <a:solidFill>
                  <a:srgbClr val="0070C0"/>
                </a:solidFill>
                <a:latin typeface="Arial"/>
              </a:rPr>
              <a:t>Innovation &amp; Uniqueness</a:t>
            </a:r>
          </a:p>
        </p:txBody>
      </p:sp>
      <p:sp>
        <p:nvSpPr>
          <p:cNvPr id="15374" name="TextBox 15373"/>
          <p:cNvSpPr txBox="1"/>
          <p:nvPr/>
        </p:nvSpPr>
        <p:spPr>
          <a:xfrm>
            <a:off x="0" y="4340269"/>
            <a:ext cx="6504155" cy="1417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marL="164592" indent="-164592" algn="l">
              <a:lnSpc>
                <a:spcPct val="102000"/>
              </a:lnSpc>
              <a:spcAft>
                <a:spcPts val="500"/>
              </a:spcAft>
              <a:buFont typeface="Arial"/>
              <a:buChar char="•"/>
            </a:pPr>
            <a:r>
              <a:rPr sz="1450" b="0" i="0" dirty="0">
                <a:solidFill>
                  <a:srgbClr val="222B33"/>
                </a:solidFill>
                <a:latin typeface="Arial"/>
              </a:rPr>
              <a:t>Agentic routing — automatically selects the appropriate specialist model/tool</a:t>
            </a:r>
          </a:p>
          <a:p>
            <a:pPr marL="164592" indent="-164592" algn="l">
              <a:lnSpc>
                <a:spcPct val="102000"/>
              </a:lnSpc>
              <a:spcAft>
                <a:spcPts val="500"/>
              </a:spcAft>
              <a:buFont typeface="Arial"/>
              <a:buChar char="•"/>
            </a:pPr>
            <a:r>
              <a:rPr sz="1450" b="0" i="0" dirty="0">
                <a:solidFill>
                  <a:srgbClr val="222B33"/>
                </a:solidFill>
                <a:latin typeface="Arial"/>
              </a:rPr>
              <a:t>Evidence-grounded answers — every spatial answer links to visible image evidence</a:t>
            </a:r>
          </a:p>
          <a:p>
            <a:pPr marL="164592" indent="-164592" algn="l">
              <a:lnSpc>
                <a:spcPct val="102000"/>
              </a:lnSpc>
              <a:spcAft>
                <a:spcPts val="500"/>
              </a:spcAft>
              <a:buFont typeface="Arial"/>
              <a:buChar char="•"/>
            </a:pPr>
            <a:r>
              <a:rPr sz="1450" b="0" i="0" dirty="0">
                <a:solidFill>
                  <a:srgbClr val="222B33"/>
                </a:solidFill>
                <a:latin typeface="Arial"/>
              </a:rPr>
              <a:t>Multimodal reasoning — optical/multispectral + SAR + temporal image pairs</a:t>
            </a:r>
          </a:p>
          <a:p>
            <a:pPr marL="164592" indent="-164592" algn="l">
              <a:lnSpc>
                <a:spcPct val="102000"/>
              </a:lnSpc>
              <a:spcAft>
                <a:spcPts val="500"/>
              </a:spcAft>
              <a:buFont typeface="Arial"/>
              <a:buChar char="•"/>
            </a:pPr>
            <a:r>
              <a:rPr sz="1450" b="0" i="0" dirty="0">
                <a:solidFill>
                  <a:srgbClr val="222B33"/>
                </a:solidFill>
                <a:latin typeface="Arial"/>
              </a:rPr>
              <a:t>Trust-aware interaction — confidence estimation + Explicit Abstention Path</a:t>
            </a:r>
          </a:p>
        </p:txBody>
      </p:sp>
      <p:sp>
        <p:nvSpPr>
          <p:cNvPr id="15375" name="TextBox 15374"/>
          <p:cNvSpPr txBox="1"/>
          <p:nvPr/>
        </p:nvSpPr>
        <p:spPr>
          <a:xfrm>
            <a:off x="250092" y="5924023"/>
            <a:ext cx="11789940" cy="45138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400" b="0" i="1" dirty="0">
                <a:solidFill>
                  <a:srgbClr val="454F58"/>
                </a:solidFill>
                <a:latin typeface="Arial"/>
              </a:rPr>
              <a:t>Novelty = agentic task routing + RS-specialized models + Visual Citation grounding + confidence-aware Abstention Path, combined in one workflow.</a:t>
            </a:r>
          </a:p>
        </p:txBody>
      </p:sp>
      <p:sp>
        <p:nvSpPr>
          <p:cNvPr id="15376" name="TextBox 15375"/>
          <p:cNvSpPr txBox="1"/>
          <p:nvPr/>
        </p:nvSpPr>
        <p:spPr>
          <a:xfrm>
            <a:off x="6172200" y="1381387"/>
            <a:ext cx="5669280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/>
            <a:r>
              <a:rPr sz="1700" b="1" i="0" dirty="0">
                <a:solidFill>
                  <a:srgbClr val="0070C0"/>
                </a:solidFill>
                <a:latin typeface="Arial"/>
              </a:rPr>
              <a:t>What </a:t>
            </a:r>
            <a:r>
              <a:rPr sz="1700" b="1" i="0" dirty="0" err="1">
                <a:solidFill>
                  <a:srgbClr val="0070C0"/>
                </a:solidFill>
                <a:latin typeface="Arial"/>
              </a:rPr>
              <a:t>SatQuery</a:t>
            </a:r>
            <a:r>
              <a:rPr sz="1700" b="1" i="0" dirty="0">
                <a:solidFill>
                  <a:srgbClr val="0070C0"/>
                </a:solidFill>
                <a:latin typeface="Arial"/>
              </a:rPr>
              <a:t> Can Do</a:t>
            </a:r>
          </a:p>
        </p:txBody>
      </p:sp>
      <p:sp>
        <p:nvSpPr>
          <p:cNvPr id="15377" name="Rounded Rectangle 15376"/>
          <p:cNvSpPr/>
          <p:nvPr/>
        </p:nvSpPr>
        <p:spPr>
          <a:xfrm>
            <a:off x="6172200" y="1711780"/>
            <a:ext cx="2805544" cy="966456"/>
          </a:xfrm>
          <a:prstGeom prst="roundRect">
            <a:avLst>
              <a:gd name="adj" fmla="val 8000"/>
            </a:avLst>
          </a:prstGeom>
          <a:solidFill>
            <a:srgbClr val="F4F8FC"/>
          </a:solidFill>
          <a:ln w="9525">
            <a:solidFill>
              <a:srgbClr val="C7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8" name="Oval 15377"/>
          <p:cNvSpPr/>
          <p:nvPr/>
        </p:nvSpPr>
        <p:spPr>
          <a:xfrm>
            <a:off x="6300216" y="2020824"/>
            <a:ext cx="402336" cy="402336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9" name="TextBox 15378"/>
          <p:cNvSpPr txBox="1"/>
          <p:nvPr/>
        </p:nvSpPr>
        <p:spPr>
          <a:xfrm>
            <a:off x="6145062" y="1870426"/>
            <a:ext cx="712643" cy="70353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300" b="1" i="0" dirty="0">
                <a:solidFill>
                  <a:srgbClr val="FFFFFF"/>
                </a:solidFill>
                <a:latin typeface="Arial"/>
              </a:rPr>
              <a:t>Q</a:t>
            </a:r>
          </a:p>
        </p:txBody>
      </p:sp>
      <p:sp>
        <p:nvSpPr>
          <p:cNvPr id="15380" name="TextBox 15379"/>
          <p:cNvSpPr txBox="1"/>
          <p:nvPr/>
        </p:nvSpPr>
        <p:spPr>
          <a:xfrm>
            <a:off x="6739128" y="1757899"/>
            <a:ext cx="2238616" cy="893541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Autofit/>
          </a:bodyPr>
          <a:lstStyle/>
          <a:p>
            <a:pPr algn="l"/>
            <a:r>
              <a:rPr sz="1500" b="1" i="0" dirty="0">
                <a:solidFill>
                  <a:srgbClr val="0D2A4A"/>
                </a:solidFill>
                <a:latin typeface="Arial"/>
              </a:rPr>
              <a:t>Ask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sz="1200" b="0" i="0" dirty="0">
                <a:solidFill>
                  <a:srgbClr val="454F58"/>
                </a:solidFill>
                <a:latin typeface="Arial"/>
              </a:rPr>
              <a:t>Natural-language questions — “How many buildings are visible?”</a:t>
            </a:r>
          </a:p>
        </p:txBody>
      </p:sp>
      <p:sp>
        <p:nvSpPr>
          <p:cNvPr id="15381" name="Rounded Rectangle 15380"/>
          <p:cNvSpPr/>
          <p:nvPr/>
        </p:nvSpPr>
        <p:spPr>
          <a:xfrm>
            <a:off x="9098279" y="1711780"/>
            <a:ext cx="3029989" cy="966456"/>
          </a:xfrm>
          <a:prstGeom prst="roundRect">
            <a:avLst>
              <a:gd name="adj" fmla="val 8000"/>
            </a:avLst>
          </a:prstGeom>
          <a:solidFill>
            <a:srgbClr val="F4F8FC"/>
          </a:solidFill>
          <a:ln w="9525">
            <a:solidFill>
              <a:srgbClr val="C7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82" name="Oval 15381"/>
          <p:cNvSpPr/>
          <p:nvPr/>
        </p:nvSpPr>
        <p:spPr>
          <a:xfrm>
            <a:off x="9226295" y="2020824"/>
            <a:ext cx="402336" cy="402336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83" name="TextBox 15382"/>
          <p:cNvSpPr txBox="1"/>
          <p:nvPr/>
        </p:nvSpPr>
        <p:spPr>
          <a:xfrm>
            <a:off x="9211331" y="2020824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300" b="1" i="0" dirty="0">
                <a:solidFill>
                  <a:srgbClr val="FFFFFF"/>
                </a:solidFill>
                <a:latin typeface="Arial"/>
              </a:rPr>
              <a:t>G</a:t>
            </a:r>
          </a:p>
        </p:txBody>
      </p:sp>
      <p:sp>
        <p:nvSpPr>
          <p:cNvPr id="15384" name="TextBox 15383"/>
          <p:cNvSpPr txBox="1"/>
          <p:nvPr/>
        </p:nvSpPr>
        <p:spPr>
          <a:xfrm>
            <a:off x="9696085" y="1849588"/>
            <a:ext cx="2364729" cy="67665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Autofit/>
          </a:bodyPr>
          <a:lstStyle/>
          <a:p>
            <a:pPr algn="l"/>
            <a:r>
              <a:rPr sz="1500" b="1" i="0" dirty="0">
                <a:solidFill>
                  <a:srgbClr val="0D2A4A"/>
                </a:solidFill>
                <a:latin typeface="Arial"/>
              </a:rPr>
              <a:t>Ground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sz="1200" b="0" i="0" dirty="0">
                <a:solidFill>
                  <a:srgbClr val="454F58"/>
                </a:solidFill>
                <a:latin typeface="Arial"/>
              </a:rPr>
              <a:t>Draws a Visual Citation — highlights the exact region/objects behind the answer</a:t>
            </a:r>
          </a:p>
        </p:txBody>
      </p:sp>
      <p:sp>
        <p:nvSpPr>
          <p:cNvPr id="15385" name="Rounded Rectangle 15384"/>
          <p:cNvSpPr/>
          <p:nvPr/>
        </p:nvSpPr>
        <p:spPr>
          <a:xfrm>
            <a:off x="6172200" y="2798064"/>
            <a:ext cx="2805544" cy="941514"/>
          </a:xfrm>
          <a:prstGeom prst="roundRect">
            <a:avLst>
              <a:gd name="adj" fmla="val 8000"/>
            </a:avLst>
          </a:prstGeom>
          <a:solidFill>
            <a:srgbClr val="F4F8FC"/>
          </a:solidFill>
          <a:ln w="9525">
            <a:solidFill>
              <a:srgbClr val="C7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86" name="Oval 15385"/>
          <p:cNvSpPr/>
          <p:nvPr/>
        </p:nvSpPr>
        <p:spPr>
          <a:xfrm>
            <a:off x="6300216" y="2990088"/>
            <a:ext cx="402336" cy="402336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87" name="TextBox 15386"/>
          <p:cNvSpPr txBox="1"/>
          <p:nvPr/>
        </p:nvSpPr>
        <p:spPr>
          <a:xfrm>
            <a:off x="6300216" y="2990088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5388" name="TextBox 15387"/>
          <p:cNvSpPr txBox="1"/>
          <p:nvPr/>
        </p:nvSpPr>
        <p:spPr>
          <a:xfrm>
            <a:off x="6739128" y="2852928"/>
            <a:ext cx="2238616" cy="67665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Autofit/>
          </a:bodyPr>
          <a:lstStyle/>
          <a:p>
            <a:pPr algn="l"/>
            <a:r>
              <a:rPr sz="1500" b="1" i="0" dirty="0">
                <a:solidFill>
                  <a:srgbClr val="0D2A4A"/>
                </a:solidFill>
                <a:latin typeface="Arial"/>
              </a:rPr>
              <a:t>Compare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sz="1200" b="0" i="0" dirty="0">
                <a:solidFill>
                  <a:srgbClr val="454F58"/>
                </a:solidFill>
                <a:latin typeface="Arial"/>
              </a:rPr>
              <a:t>Two dates → identifies new/removed/modified regions</a:t>
            </a:r>
          </a:p>
        </p:txBody>
      </p:sp>
      <p:sp>
        <p:nvSpPr>
          <p:cNvPr id="15389" name="Rounded Rectangle 15388"/>
          <p:cNvSpPr/>
          <p:nvPr/>
        </p:nvSpPr>
        <p:spPr>
          <a:xfrm>
            <a:off x="9098279" y="2798064"/>
            <a:ext cx="3029989" cy="941514"/>
          </a:xfrm>
          <a:prstGeom prst="roundRect">
            <a:avLst>
              <a:gd name="adj" fmla="val 8000"/>
            </a:avLst>
          </a:prstGeom>
          <a:solidFill>
            <a:srgbClr val="F4F8FC"/>
          </a:solidFill>
          <a:ln w="9525">
            <a:solidFill>
              <a:srgbClr val="C7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90" name="Oval 15389"/>
          <p:cNvSpPr/>
          <p:nvPr/>
        </p:nvSpPr>
        <p:spPr>
          <a:xfrm>
            <a:off x="9226295" y="2990088"/>
            <a:ext cx="402336" cy="402336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91" name="TextBox 15390"/>
          <p:cNvSpPr txBox="1"/>
          <p:nvPr/>
        </p:nvSpPr>
        <p:spPr>
          <a:xfrm>
            <a:off x="9226295" y="2990088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F</a:t>
            </a:r>
          </a:p>
        </p:txBody>
      </p:sp>
      <p:sp>
        <p:nvSpPr>
          <p:cNvPr id="15392" name="TextBox 15391"/>
          <p:cNvSpPr txBox="1"/>
          <p:nvPr/>
        </p:nvSpPr>
        <p:spPr>
          <a:xfrm>
            <a:off x="9665206" y="2852928"/>
            <a:ext cx="2340865" cy="67665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Autofit/>
          </a:bodyPr>
          <a:lstStyle/>
          <a:p>
            <a:pPr algn="l"/>
            <a:r>
              <a:rPr sz="1500" b="1" i="0" dirty="0">
                <a:solidFill>
                  <a:srgbClr val="0D2A4A"/>
                </a:solidFill>
                <a:latin typeface="Arial"/>
              </a:rPr>
              <a:t>Fuse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sz="1200" b="0" i="0" dirty="0">
                <a:solidFill>
                  <a:srgbClr val="454F58"/>
                </a:solidFill>
                <a:latin typeface="Arial"/>
              </a:rPr>
              <a:t>Optical + SAR → combines complementary sensor evidence</a:t>
            </a:r>
          </a:p>
        </p:txBody>
      </p:sp>
      <p:sp>
        <p:nvSpPr>
          <p:cNvPr id="15393" name="Rounded Rectangle 15392"/>
          <p:cNvSpPr/>
          <p:nvPr/>
        </p:nvSpPr>
        <p:spPr>
          <a:xfrm>
            <a:off x="6504155" y="3847134"/>
            <a:ext cx="5691170" cy="1938848"/>
          </a:xfrm>
          <a:prstGeom prst="roundRect">
            <a:avLst>
              <a:gd name="adj" fmla="val 6000"/>
            </a:avLst>
          </a:prstGeom>
          <a:solidFill>
            <a:srgbClr val="0D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94" name="TextBox 15393"/>
          <p:cNvSpPr txBox="1"/>
          <p:nvPr/>
        </p:nvSpPr>
        <p:spPr>
          <a:xfrm>
            <a:off x="6547937" y="4003599"/>
            <a:ext cx="5818631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/>
            <a:r>
              <a:rPr sz="1400" b="1" i="0" dirty="0">
                <a:solidFill>
                  <a:srgbClr val="E08E00"/>
                </a:solidFill>
                <a:latin typeface="Arial"/>
              </a:rPr>
              <a:t>★ OUR DIFFERENTIATOR — Evidence + Confidence + Abstention</a:t>
            </a:r>
          </a:p>
        </p:txBody>
      </p:sp>
      <p:sp>
        <p:nvSpPr>
          <p:cNvPr id="15395" name="TextBox 15394"/>
          <p:cNvSpPr txBox="1"/>
          <p:nvPr/>
        </p:nvSpPr>
        <p:spPr>
          <a:xfrm>
            <a:off x="6739128" y="4403729"/>
            <a:ext cx="5266944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 i="0" dirty="0">
                <a:solidFill>
                  <a:srgbClr val="FFFFFF"/>
                </a:solidFill>
                <a:latin typeface="Arial"/>
              </a:rPr>
              <a:t>✓ 17 buildings detected  ·  </a:t>
            </a:r>
            <a:r>
              <a:rPr lang="en-US" sz="1400" b="0" i="0" dirty="0">
                <a:solidFill>
                  <a:srgbClr val="FFFFFF"/>
                </a:solidFill>
                <a:latin typeface="Arial"/>
              </a:rPr>
              <a:t>  </a:t>
            </a:r>
            <a:r>
              <a:rPr sz="1400" b="0" i="0" dirty="0">
                <a:solidFill>
                  <a:srgbClr val="FFFFFF"/>
                </a:solidFill>
                <a:latin typeface="Arial"/>
              </a:rPr>
              <a:t>Evidence: 17 highlighted regions  ·  </a:t>
            </a:r>
            <a:r>
              <a:rPr lang="en-US" sz="1400" b="0" i="0" dirty="0">
                <a:solidFill>
                  <a:srgbClr val="FFFFFF"/>
                </a:solidFill>
                <a:latin typeface="Arial"/>
              </a:rPr>
              <a:t>   </a:t>
            </a:r>
          </a:p>
          <a:p>
            <a:pPr algn="l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Arial"/>
              </a:rPr>
              <a:t>                                 </a:t>
            </a:r>
            <a:r>
              <a:rPr sz="1400" b="0" i="0" dirty="0">
                <a:solidFill>
                  <a:srgbClr val="FFFFFF"/>
                </a:solidFill>
                <a:latin typeface="Arial"/>
              </a:rPr>
              <a:t>Confidence: 91%</a:t>
            </a:r>
          </a:p>
        </p:txBody>
      </p:sp>
      <p:sp>
        <p:nvSpPr>
          <p:cNvPr id="15396" name="TextBox 15395"/>
          <p:cNvSpPr txBox="1"/>
          <p:nvPr/>
        </p:nvSpPr>
        <p:spPr>
          <a:xfrm>
            <a:off x="7099624" y="5014433"/>
            <a:ext cx="5266944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 i="1" dirty="0">
                <a:solidFill>
                  <a:srgbClr val="CFE3F7"/>
                </a:solidFill>
                <a:latin typeface="Arial"/>
              </a:rPr>
              <a:t>⚠ Abstention Path triggers when evidence is insufficient: “Insufficient visual evidence to answer reliably.”</a:t>
            </a: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180767" y="1039290"/>
            <a:ext cx="653796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/>
            <a:r>
              <a:rPr sz="1700" b="1" i="0" dirty="0">
                <a:solidFill>
                  <a:srgbClr val="0070C0"/>
                </a:solidFill>
                <a:latin typeface="Arial"/>
              </a:rPr>
              <a:t>System </a:t>
            </a:r>
            <a:r>
              <a:rPr lang="en-US" sz="1700" b="1" i="0" dirty="0">
                <a:solidFill>
                  <a:srgbClr val="0070C0"/>
                </a:solidFill>
                <a:latin typeface="Arial"/>
              </a:rPr>
              <a:t> </a:t>
            </a:r>
            <a:r>
              <a:rPr sz="1700" b="1" i="0" dirty="0">
                <a:solidFill>
                  <a:srgbClr val="0070C0"/>
                </a:solidFill>
                <a:latin typeface="Arial"/>
              </a:rPr>
              <a:t>Architecture</a:t>
            </a:r>
            <a:r>
              <a:rPr lang="en-US" sz="1700" b="1" i="0" dirty="0">
                <a:solidFill>
                  <a:srgbClr val="0070C0"/>
                </a:solidFill>
                <a:latin typeface="Arial"/>
              </a:rPr>
              <a:t> :</a:t>
            </a:r>
            <a:endParaRPr sz="1700" b="1" i="0" dirty="0">
              <a:solidFill>
                <a:srgbClr val="0070C0"/>
              </a:solidFill>
              <a:latin typeface="Arial"/>
            </a:endParaRPr>
          </a:p>
        </p:txBody>
      </p:sp>
      <p:sp>
        <p:nvSpPr>
          <p:cNvPr id="17411" name="Rounded Rectangle 17410"/>
          <p:cNvSpPr/>
          <p:nvPr/>
        </p:nvSpPr>
        <p:spPr>
          <a:xfrm>
            <a:off x="1720736" y="1378634"/>
            <a:ext cx="4279934" cy="483953"/>
          </a:xfrm>
          <a:prstGeom prst="roundRect">
            <a:avLst>
              <a:gd name="adj" fmla="val 13368"/>
            </a:avLst>
          </a:prstGeom>
          <a:solidFill>
            <a:srgbClr val="EAF3FB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2" name="TextBox 17411"/>
          <p:cNvSpPr txBox="1"/>
          <p:nvPr/>
        </p:nvSpPr>
        <p:spPr>
          <a:xfrm>
            <a:off x="2290572" y="1417813"/>
            <a:ext cx="2946654" cy="38404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 dirty="0">
                <a:solidFill>
                  <a:srgbClr val="0D2A4A"/>
                </a:solidFill>
                <a:latin typeface="Arial"/>
              </a:rPr>
              <a:t>Natural-Language Query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3360420" y="1865376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000" b="1" i="0" dirty="0">
                <a:solidFill>
                  <a:srgbClr val="0D2A4A"/>
                </a:solidFill>
                <a:latin typeface="Arial"/>
              </a:rPr>
              <a:t>↓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1720736" y="2139696"/>
            <a:ext cx="4279934" cy="384048"/>
          </a:xfrm>
          <a:prstGeom prst="roundRect">
            <a:avLst>
              <a:gd name="adj" fmla="val 10000"/>
            </a:avLst>
          </a:prstGeom>
          <a:solidFill>
            <a:srgbClr val="EAF3FB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5" name="TextBox 17414"/>
          <p:cNvSpPr txBox="1"/>
          <p:nvPr/>
        </p:nvSpPr>
        <p:spPr>
          <a:xfrm>
            <a:off x="1996092" y="2121408"/>
            <a:ext cx="3763586" cy="40233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i="0" dirty="0">
                <a:solidFill>
                  <a:srgbClr val="0D2A4A"/>
                </a:solidFill>
                <a:latin typeface="Arial"/>
              </a:rPr>
              <a:t>Query Understander + Input Validator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3360420" y="2447803"/>
            <a:ext cx="548640" cy="27710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b="1" i="0" dirty="0">
                <a:solidFill>
                  <a:srgbClr val="0D2A4A"/>
                </a:solidFill>
                <a:latin typeface="Arial"/>
              </a:rPr>
              <a:t>↓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1186705" y="2724912"/>
            <a:ext cx="5272284" cy="384048"/>
          </a:xfrm>
          <a:prstGeom prst="roundRect">
            <a:avLst>
              <a:gd name="adj" fmla="val 10000"/>
            </a:avLst>
          </a:prstGeom>
          <a:solidFill>
            <a:srgbClr val="DDECFB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8" name="TextBox 17417"/>
          <p:cNvSpPr txBox="1"/>
          <p:nvPr/>
        </p:nvSpPr>
        <p:spPr>
          <a:xfrm>
            <a:off x="2034538" y="2724912"/>
            <a:ext cx="3657601" cy="38404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i="0" dirty="0">
                <a:solidFill>
                  <a:srgbClr val="0D2A4A"/>
                </a:solidFill>
                <a:latin typeface="Arial"/>
              </a:rPr>
              <a:t>Agentic Router — Task + Model Selection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2677309" y="3084596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b="1" i="0" dirty="0">
                <a:solidFill>
                  <a:srgbClr val="0D2A4A"/>
                </a:solidFill>
                <a:latin typeface="Arial"/>
              </a:rPr>
              <a:t>↓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285752" y="3310129"/>
            <a:ext cx="1618486" cy="655558"/>
          </a:xfrm>
          <a:prstGeom prst="roundRect">
            <a:avLst>
              <a:gd name="adj" fmla="val 10000"/>
            </a:avLst>
          </a:prstGeom>
          <a:solidFill>
            <a:srgbClr val="EAF3FB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1" name="TextBox 17420"/>
          <p:cNvSpPr txBox="1"/>
          <p:nvPr/>
        </p:nvSpPr>
        <p:spPr>
          <a:xfrm>
            <a:off x="368359" y="3346152"/>
            <a:ext cx="1447038" cy="56692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i="0" dirty="0">
                <a:solidFill>
                  <a:srgbClr val="0D2A4A"/>
                </a:solidFill>
                <a:latin typeface="Arial"/>
              </a:rPr>
              <a:t>VQA /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b="0" i="0" dirty="0">
                <a:solidFill>
                  <a:srgbClr val="454F58"/>
                </a:solidFill>
                <a:latin typeface="Arial"/>
              </a:rPr>
              <a:t>Caption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2032254" y="3328415"/>
            <a:ext cx="1538478" cy="637271"/>
          </a:xfrm>
          <a:prstGeom prst="roundRect">
            <a:avLst>
              <a:gd name="adj" fmla="val 10000"/>
            </a:avLst>
          </a:prstGeom>
          <a:solidFill>
            <a:srgbClr val="EAF3FB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3" name="TextBox 17422"/>
          <p:cNvSpPr txBox="1"/>
          <p:nvPr/>
        </p:nvSpPr>
        <p:spPr>
          <a:xfrm>
            <a:off x="2080258" y="3476578"/>
            <a:ext cx="1490474" cy="292609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i="0" dirty="0">
                <a:solidFill>
                  <a:srgbClr val="0D2A4A"/>
                </a:solidFill>
                <a:latin typeface="Arial"/>
              </a:rPr>
              <a:t>Grounding /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b="0" i="0" dirty="0">
                <a:solidFill>
                  <a:srgbClr val="454F58"/>
                </a:solidFill>
                <a:latin typeface="Arial"/>
              </a:rPr>
              <a:t>Detection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3698748" y="3328416"/>
            <a:ext cx="1538478" cy="637270"/>
          </a:xfrm>
          <a:prstGeom prst="roundRect">
            <a:avLst>
              <a:gd name="adj" fmla="val 10000"/>
            </a:avLst>
          </a:prstGeom>
          <a:solidFill>
            <a:srgbClr val="EAF3FB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5" name="TextBox 17424"/>
          <p:cNvSpPr txBox="1"/>
          <p:nvPr/>
        </p:nvSpPr>
        <p:spPr>
          <a:xfrm>
            <a:off x="3698748" y="3467651"/>
            <a:ext cx="1447038" cy="29260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i="0" dirty="0">
                <a:solidFill>
                  <a:srgbClr val="0D2A4A"/>
                </a:solidFill>
                <a:latin typeface="Arial"/>
              </a:rPr>
              <a:t>Change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b="0" i="0" dirty="0">
                <a:solidFill>
                  <a:srgbClr val="454F58"/>
                </a:solidFill>
                <a:latin typeface="Arial"/>
              </a:rPr>
              <a:t>Detection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5365242" y="3328416"/>
            <a:ext cx="1538478" cy="637270"/>
          </a:xfrm>
          <a:prstGeom prst="roundRect">
            <a:avLst>
              <a:gd name="adj" fmla="val 10000"/>
            </a:avLst>
          </a:prstGeom>
          <a:solidFill>
            <a:srgbClr val="EAF3FB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7" name="TextBox 17426"/>
          <p:cNvSpPr txBox="1"/>
          <p:nvPr/>
        </p:nvSpPr>
        <p:spPr>
          <a:xfrm>
            <a:off x="5410962" y="3427595"/>
            <a:ext cx="1447038" cy="420625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i="0" dirty="0">
                <a:solidFill>
                  <a:srgbClr val="0D2A4A"/>
                </a:solidFill>
                <a:latin typeface="Arial"/>
              </a:rPr>
              <a:t>Optical +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b="0" i="0" dirty="0">
                <a:solidFill>
                  <a:srgbClr val="454F58"/>
                </a:solidFill>
                <a:latin typeface="Arial"/>
              </a:rPr>
              <a:t>SAR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3360420" y="3823230"/>
            <a:ext cx="548640" cy="3548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900" b="1" i="0" dirty="0">
                <a:solidFill>
                  <a:srgbClr val="0D2A4A"/>
                </a:solidFill>
                <a:latin typeface="Arial"/>
              </a:rPr>
              <a:t>↓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883954" y="4178129"/>
            <a:ext cx="5373556" cy="563569"/>
          </a:xfrm>
          <a:prstGeom prst="roundRect">
            <a:avLst>
              <a:gd name="adj" fmla="val 10000"/>
            </a:avLst>
          </a:prstGeom>
          <a:solidFill>
            <a:srgbClr val="FDF2DD"/>
          </a:solidFill>
          <a:ln w="12700">
            <a:solidFill>
              <a:srgbClr val="E08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0" name="TextBox 17429"/>
          <p:cNvSpPr txBox="1"/>
          <p:nvPr/>
        </p:nvSpPr>
        <p:spPr>
          <a:xfrm>
            <a:off x="1354496" y="4215381"/>
            <a:ext cx="4481935" cy="45720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 dirty="0">
                <a:solidFill>
                  <a:srgbClr val="0D2A4A"/>
                </a:solidFill>
                <a:latin typeface="Arial"/>
              </a:rPr>
              <a:t>Evidence Fusion + Confidence + Verification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1888443" y="4551327"/>
            <a:ext cx="548640" cy="35063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IN" b="1" i="0" dirty="0">
                <a:solidFill>
                  <a:srgbClr val="0D2A4A"/>
                </a:solidFill>
                <a:latin typeface="Arial"/>
              </a:rPr>
              <a:t>↓</a:t>
            </a:r>
            <a:endParaRPr b="1" i="0" dirty="0">
              <a:solidFill>
                <a:srgbClr val="0D2A4A"/>
              </a:solidFill>
              <a:latin typeface="Arial"/>
            </a:endParaRPr>
          </a:p>
        </p:txBody>
      </p:sp>
      <p:sp>
        <p:nvSpPr>
          <p:cNvPr id="17432" name="Rounded Rectangle 17431"/>
          <p:cNvSpPr/>
          <p:nvPr/>
        </p:nvSpPr>
        <p:spPr>
          <a:xfrm>
            <a:off x="1091878" y="4873453"/>
            <a:ext cx="2141770" cy="624582"/>
          </a:xfrm>
          <a:prstGeom prst="roundRect">
            <a:avLst>
              <a:gd name="adj" fmla="val 10000"/>
            </a:avLst>
          </a:prstGeom>
          <a:solidFill>
            <a:srgbClr val="E7F6EC"/>
          </a:solidFill>
          <a:ln w="12700">
            <a:solidFill>
              <a:srgbClr val="1E7B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3" name="TextBox 17432"/>
          <p:cNvSpPr txBox="1"/>
          <p:nvPr/>
        </p:nvSpPr>
        <p:spPr>
          <a:xfrm>
            <a:off x="1186704" y="4956559"/>
            <a:ext cx="2039245" cy="43335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i="0" dirty="0">
                <a:solidFill>
                  <a:srgbClr val="1E7B34"/>
                </a:solidFill>
                <a:latin typeface="Arial"/>
              </a:rPr>
              <a:t>Answer + Evidence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3877885" y="4873454"/>
            <a:ext cx="2049090" cy="624582"/>
          </a:xfrm>
          <a:prstGeom prst="roundRect">
            <a:avLst>
              <a:gd name="adj" fmla="val 10000"/>
            </a:avLst>
          </a:prstGeom>
          <a:solidFill>
            <a:srgbClr val="FBE9E7"/>
          </a:solidFill>
          <a:ln w="12700">
            <a:solidFill>
              <a:srgbClr val="B02A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5" name="TextBox 17434"/>
          <p:cNvSpPr txBox="1"/>
          <p:nvPr/>
        </p:nvSpPr>
        <p:spPr>
          <a:xfrm>
            <a:off x="3684333" y="4964932"/>
            <a:ext cx="2365931" cy="438913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i="0" dirty="0">
                <a:solidFill>
                  <a:srgbClr val="B02A25"/>
                </a:solidFill>
                <a:latin typeface="Arial"/>
              </a:rPr>
              <a:t>Abstention Path </a:t>
            </a:r>
            <a:endParaRPr lang="en-US" sz="1400" b="1" dirty="0">
              <a:solidFill>
                <a:srgbClr val="B02A25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400" b="1" i="0" dirty="0">
                <a:solidFill>
                  <a:srgbClr val="B02A25"/>
                </a:solidFill>
                <a:latin typeface="Arial"/>
              </a:rPr>
              <a:t> </a:t>
            </a:r>
            <a:r>
              <a:rPr sz="1400" b="1" i="0" dirty="0">
                <a:solidFill>
                  <a:srgbClr val="B02A25"/>
                </a:solidFill>
                <a:latin typeface="Arial"/>
              </a:rPr>
              <a:t>(If Needed)</a:t>
            </a:r>
            <a:r>
              <a:rPr lang="en-US" sz="1400" b="1" i="0" dirty="0">
                <a:solidFill>
                  <a:srgbClr val="B02A25"/>
                </a:solidFill>
                <a:latin typeface="Arial"/>
              </a:rPr>
              <a:t>   </a:t>
            </a:r>
            <a:endParaRPr sz="1400" b="1" i="0" dirty="0">
              <a:solidFill>
                <a:srgbClr val="B02A25"/>
              </a:solidFill>
              <a:latin typeface="Arial"/>
            </a:endParaRPr>
          </a:p>
        </p:txBody>
      </p:sp>
      <p:sp>
        <p:nvSpPr>
          <p:cNvPr id="17436" name="TextBox 17435"/>
          <p:cNvSpPr txBox="1"/>
          <p:nvPr/>
        </p:nvSpPr>
        <p:spPr>
          <a:xfrm>
            <a:off x="3286135" y="4466785"/>
            <a:ext cx="548640" cy="169228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4000" b="1" i="0" dirty="0">
                <a:solidFill>
                  <a:srgbClr val="0D2A4A"/>
                </a:solidFill>
                <a:latin typeface="Arial"/>
              </a:rPr>
              <a:t>↓</a:t>
            </a:r>
          </a:p>
        </p:txBody>
      </p:sp>
      <p:sp>
        <p:nvSpPr>
          <p:cNvPr id="17437" name="Rounded Rectangle 17436"/>
          <p:cNvSpPr/>
          <p:nvPr/>
        </p:nvSpPr>
        <p:spPr>
          <a:xfrm>
            <a:off x="1485900" y="5669280"/>
            <a:ext cx="4206240" cy="640078"/>
          </a:xfrm>
          <a:prstGeom prst="roundRect">
            <a:avLst>
              <a:gd name="adj" fmla="val 10000"/>
            </a:avLst>
          </a:prstGeom>
          <a:solidFill>
            <a:srgbClr val="EAF3FB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8" name="TextBox 17437"/>
          <p:cNvSpPr txBox="1"/>
          <p:nvPr/>
        </p:nvSpPr>
        <p:spPr>
          <a:xfrm>
            <a:off x="1581630" y="5788384"/>
            <a:ext cx="4023359" cy="38404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i="0" dirty="0">
                <a:solidFill>
                  <a:srgbClr val="0D2A4A"/>
                </a:solidFill>
                <a:latin typeface="Arial"/>
              </a:rPr>
              <a:t>Image Overlay + Report + Execution Summary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7031736" y="1162614"/>
            <a:ext cx="475488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/>
            <a:r>
              <a:rPr sz="1700" b="1" i="0" dirty="0">
                <a:solidFill>
                  <a:srgbClr val="0070C0"/>
                </a:solidFill>
                <a:latin typeface="Arial"/>
              </a:rPr>
              <a:t>Core AI Modules</a:t>
            </a:r>
            <a:r>
              <a:rPr lang="en-US" sz="1700" b="1" i="0" dirty="0">
                <a:solidFill>
                  <a:srgbClr val="0070C0"/>
                </a:solidFill>
                <a:latin typeface="Arial"/>
              </a:rPr>
              <a:t> :</a:t>
            </a:r>
            <a:endParaRPr sz="1700" b="1" i="0" dirty="0">
              <a:solidFill>
                <a:srgbClr val="0070C0"/>
              </a:solidFill>
              <a:latin typeface="Arial"/>
            </a:endParaRPr>
          </a:p>
        </p:txBody>
      </p:sp>
      <p:sp>
        <p:nvSpPr>
          <p:cNvPr id="17440" name="TextBox 17439"/>
          <p:cNvSpPr txBox="1"/>
          <p:nvPr/>
        </p:nvSpPr>
        <p:spPr>
          <a:xfrm>
            <a:off x="6893236" y="1472429"/>
            <a:ext cx="5179188" cy="17830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marL="164592" indent="-164592" algn="l">
              <a:lnSpc>
                <a:spcPct val="100000"/>
              </a:lnSpc>
              <a:spcAft>
                <a:spcPts val="700"/>
              </a:spcAft>
              <a:buFont typeface="Arial"/>
              <a:buChar char="•"/>
            </a:pPr>
            <a:r>
              <a:rPr sz="1500" b="1" i="0" dirty="0">
                <a:solidFill>
                  <a:srgbClr val="0D2A4A"/>
                </a:solidFill>
                <a:latin typeface="Arial"/>
              </a:rPr>
              <a:t>Remote-Sensing VLM — </a:t>
            </a:r>
            <a:r>
              <a:rPr sz="1500" b="0" i="0" dirty="0">
                <a:solidFill>
                  <a:srgbClr val="454F58"/>
                </a:solidFill>
                <a:latin typeface="Arial"/>
              </a:rPr>
              <a:t>VQA &amp; scene understanding</a:t>
            </a:r>
          </a:p>
          <a:p>
            <a:pPr marL="164592" indent="-164592" algn="l">
              <a:lnSpc>
                <a:spcPct val="100000"/>
              </a:lnSpc>
              <a:spcAft>
                <a:spcPts val="700"/>
              </a:spcAft>
              <a:buFont typeface="Arial"/>
              <a:buChar char="•"/>
            </a:pPr>
            <a:r>
              <a:rPr sz="1500" b="1" i="0" dirty="0">
                <a:solidFill>
                  <a:srgbClr val="0D2A4A"/>
                </a:solidFill>
                <a:latin typeface="Arial"/>
              </a:rPr>
              <a:t>Grounding / Detection — </a:t>
            </a:r>
            <a:r>
              <a:rPr sz="1500" b="0" i="0" dirty="0">
                <a:solidFill>
                  <a:srgbClr val="454F58"/>
                </a:solidFill>
                <a:latin typeface="Arial"/>
              </a:rPr>
              <a:t>buildings, roads, water, vehicles</a:t>
            </a:r>
          </a:p>
          <a:p>
            <a:pPr marL="164592" indent="-164592" algn="l">
              <a:lnSpc>
                <a:spcPct val="100000"/>
              </a:lnSpc>
              <a:spcAft>
                <a:spcPts val="700"/>
              </a:spcAft>
              <a:buFont typeface="Arial"/>
              <a:buChar char="•"/>
            </a:pPr>
            <a:r>
              <a:rPr sz="1500" b="1" i="0" dirty="0">
                <a:solidFill>
                  <a:srgbClr val="0D2A4A"/>
                </a:solidFill>
                <a:latin typeface="Arial"/>
              </a:rPr>
              <a:t>Change Engine — </a:t>
            </a:r>
            <a:r>
              <a:rPr sz="1500" b="0" i="0" dirty="0">
                <a:solidFill>
                  <a:srgbClr val="454F58"/>
                </a:solidFill>
                <a:latin typeface="Arial"/>
              </a:rPr>
              <a:t>bi-temporal difference + explanation</a:t>
            </a:r>
          </a:p>
          <a:p>
            <a:pPr marL="164592" indent="-164592" algn="l">
              <a:lnSpc>
                <a:spcPct val="100000"/>
              </a:lnSpc>
              <a:spcAft>
                <a:spcPts val="700"/>
              </a:spcAft>
              <a:buFont typeface="Arial"/>
              <a:buChar char="•"/>
            </a:pPr>
            <a:r>
              <a:rPr sz="1500" b="1" i="0" dirty="0">
                <a:solidFill>
                  <a:srgbClr val="0D2A4A"/>
                </a:solidFill>
                <a:latin typeface="Arial"/>
              </a:rPr>
              <a:t>Optical–SAR Fusion — </a:t>
            </a:r>
            <a:r>
              <a:rPr sz="1500" b="0" i="0" dirty="0">
                <a:solidFill>
                  <a:srgbClr val="454F58"/>
                </a:solidFill>
                <a:latin typeface="Arial"/>
              </a:rPr>
              <a:t>cross-modal reasoning</a:t>
            </a:r>
          </a:p>
          <a:p>
            <a:pPr marL="164592" indent="-164592" algn="l">
              <a:lnSpc>
                <a:spcPct val="100000"/>
              </a:lnSpc>
              <a:spcAft>
                <a:spcPts val="700"/>
              </a:spcAft>
              <a:buFont typeface="Arial"/>
              <a:buChar char="•"/>
            </a:pPr>
            <a:r>
              <a:rPr sz="1500" b="1" i="0" dirty="0">
                <a:solidFill>
                  <a:srgbClr val="0D2A4A"/>
                </a:solidFill>
                <a:latin typeface="Arial"/>
              </a:rPr>
              <a:t>Evidence &amp; Visual Citation — </a:t>
            </a:r>
            <a:r>
              <a:rPr sz="1500" b="0" i="0" dirty="0">
                <a:solidFill>
                  <a:srgbClr val="454F58"/>
                </a:solidFill>
                <a:latin typeface="Arial"/>
              </a:rPr>
              <a:t>draws visual citations to check visual support for answers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7031736" y="3647586"/>
            <a:ext cx="475488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/>
            <a:r>
              <a:rPr sz="1700" b="1" i="0" dirty="0">
                <a:solidFill>
                  <a:srgbClr val="0070C0"/>
                </a:solidFill>
                <a:latin typeface="Arial"/>
              </a:rPr>
              <a:t>Tech Stack</a:t>
            </a:r>
            <a:r>
              <a:rPr lang="en-US" sz="1700" b="1" i="0" dirty="0">
                <a:solidFill>
                  <a:srgbClr val="0070C0"/>
                </a:solidFill>
                <a:latin typeface="Arial"/>
              </a:rPr>
              <a:t> :</a:t>
            </a:r>
            <a:endParaRPr sz="1700" b="1" i="0" dirty="0">
              <a:solidFill>
                <a:srgbClr val="0070C0"/>
              </a:solidFill>
              <a:latin typeface="Arial"/>
            </a:endParaRPr>
          </a:p>
        </p:txBody>
      </p:sp>
      <p:sp>
        <p:nvSpPr>
          <p:cNvPr id="17442" name="TextBox 17441"/>
          <p:cNvSpPr txBox="1"/>
          <p:nvPr/>
        </p:nvSpPr>
        <p:spPr>
          <a:xfrm>
            <a:off x="6893235" y="4011090"/>
            <a:ext cx="5296271" cy="1554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marL="164592" indent="-164592" algn="l">
              <a:lnSpc>
                <a:spcPct val="105000"/>
              </a:lnSpc>
              <a:spcAft>
                <a:spcPts val="800"/>
              </a:spcAft>
              <a:buFont typeface="Arial"/>
              <a:buChar char="•"/>
            </a:pPr>
            <a:r>
              <a:rPr sz="1500" b="1" i="0" dirty="0">
                <a:solidFill>
                  <a:srgbClr val="0D2A4A"/>
                </a:solidFill>
                <a:latin typeface="Arial"/>
              </a:rPr>
              <a:t>AI/ML: </a:t>
            </a:r>
            <a:r>
              <a:rPr sz="1500" b="0" i="0" dirty="0" err="1">
                <a:solidFill>
                  <a:srgbClr val="454F58"/>
                </a:solidFill>
                <a:latin typeface="Arial"/>
              </a:rPr>
              <a:t>PyTorch</a:t>
            </a:r>
            <a:r>
              <a:rPr sz="1500" b="0" i="0" dirty="0">
                <a:solidFill>
                  <a:srgbClr val="454F58"/>
                </a:solidFill>
                <a:latin typeface="Arial"/>
              </a:rPr>
              <a:t>, HF Transformers, Detection, Segmentation</a:t>
            </a:r>
          </a:p>
          <a:p>
            <a:pPr marL="164592" indent="-164592" algn="l">
              <a:lnSpc>
                <a:spcPct val="105000"/>
              </a:lnSpc>
              <a:spcAft>
                <a:spcPts val="800"/>
              </a:spcAft>
              <a:buFont typeface="Arial"/>
              <a:buChar char="•"/>
            </a:pPr>
            <a:r>
              <a:rPr sz="1500" b="1" i="0" dirty="0">
                <a:solidFill>
                  <a:srgbClr val="0D2A4A"/>
                </a:solidFill>
                <a:latin typeface="Arial"/>
              </a:rPr>
              <a:t>Agentic Layer: </a:t>
            </a:r>
            <a:r>
              <a:rPr sz="1500" b="0" i="0" dirty="0">
                <a:solidFill>
                  <a:srgbClr val="454F58"/>
                </a:solidFill>
                <a:latin typeface="Arial"/>
              </a:rPr>
              <a:t>Tool Registry, Task Router, Model Selector</a:t>
            </a:r>
          </a:p>
          <a:p>
            <a:pPr marL="164592" indent="-164592" algn="l">
              <a:lnSpc>
                <a:spcPct val="105000"/>
              </a:lnSpc>
              <a:spcAft>
                <a:spcPts val="800"/>
              </a:spcAft>
              <a:buFont typeface="Arial"/>
              <a:buChar char="•"/>
            </a:pPr>
            <a:r>
              <a:rPr sz="1500" b="1" i="0" dirty="0">
                <a:solidFill>
                  <a:srgbClr val="0D2A4A"/>
                </a:solidFill>
                <a:latin typeface="Arial"/>
              </a:rPr>
              <a:t>Geospatial: </a:t>
            </a:r>
            <a:r>
              <a:rPr sz="1500" b="0" i="0" dirty="0">
                <a:solidFill>
                  <a:srgbClr val="454F58"/>
                </a:solidFill>
                <a:latin typeface="Arial"/>
              </a:rPr>
              <a:t>GDAL, </a:t>
            </a:r>
            <a:r>
              <a:rPr sz="1500" b="0" i="0" dirty="0" err="1">
                <a:solidFill>
                  <a:srgbClr val="454F58"/>
                </a:solidFill>
                <a:latin typeface="Arial"/>
              </a:rPr>
              <a:t>Rasterio</a:t>
            </a:r>
            <a:r>
              <a:rPr sz="1500" b="0" i="0" dirty="0">
                <a:solidFill>
                  <a:srgbClr val="454F58"/>
                </a:solidFill>
                <a:latin typeface="Arial"/>
              </a:rPr>
              <a:t>, </a:t>
            </a:r>
            <a:r>
              <a:rPr sz="1500" b="0" i="0" dirty="0" err="1">
                <a:solidFill>
                  <a:srgbClr val="454F58"/>
                </a:solidFill>
                <a:latin typeface="Arial"/>
              </a:rPr>
              <a:t>GeoPandas</a:t>
            </a:r>
            <a:r>
              <a:rPr sz="1500" b="0" i="0" dirty="0">
                <a:solidFill>
                  <a:srgbClr val="454F58"/>
                </a:solidFill>
                <a:latin typeface="Arial"/>
              </a:rPr>
              <a:t>, OpenCV</a:t>
            </a:r>
          </a:p>
          <a:p>
            <a:pPr marL="164592" indent="-164592" algn="l">
              <a:lnSpc>
                <a:spcPct val="105000"/>
              </a:lnSpc>
              <a:spcAft>
                <a:spcPts val="800"/>
              </a:spcAft>
              <a:buFont typeface="Arial"/>
              <a:buChar char="•"/>
            </a:pPr>
            <a:r>
              <a:rPr sz="1500" b="1" i="0" dirty="0">
                <a:solidFill>
                  <a:srgbClr val="0D2A4A"/>
                </a:solidFill>
                <a:latin typeface="Arial"/>
              </a:rPr>
              <a:t>Frontend/Backend: </a:t>
            </a:r>
            <a:r>
              <a:rPr sz="1500" b="0" i="0" dirty="0">
                <a:solidFill>
                  <a:srgbClr val="454F58"/>
                </a:solidFill>
                <a:latin typeface="Arial"/>
              </a:rPr>
              <a:t>React/Next.js, </a:t>
            </a:r>
            <a:r>
              <a:rPr sz="1500" b="0" i="0" dirty="0" err="1">
                <a:solidFill>
                  <a:srgbClr val="454F58"/>
                </a:solidFill>
                <a:latin typeface="Arial"/>
              </a:rPr>
              <a:t>FastAPI</a:t>
            </a:r>
            <a:r>
              <a:rPr sz="1500" b="0" i="0" dirty="0">
                <a:solidFill>
                  <a:srgbClr val="454F58"/>
                </a:solidFill>
                <a:latin typeface="Arial"/>
              </a:rPr>
              <a:t>, GPU inference</a:t>
            </a:r>
          </a:p>
        </p:txBody>
      </p:sp>
      <p:sp>
        <p:nvSpPr>
          <p:cNvPr id="17443" name="TextBox 17442"/>
          <p:cNvSpPr txBox="1"/>
          <p:nvPr/>
        </p:nvSpPr>
        <p:spPr>
          <a:xfrm>
            <a:off x="6903720" y="5467824"/>
            <a:ext cx="5296270" cy="8229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500" b="1" i="0" dirty="0">
                <a:solidFill>
                  <a:srgbClr val="0D2A4A"/>
                </a:solidFill>
                <a:latin typeface="Arial"/>
              </a:rPr>
              <a:t>Evaluation-aware design: </a:t>
            </a:r>
            <a:r>
              <a:rPr sz="1400" b="0" i="1" dirty="0">
                <a:solidFill>
                  <a:srgbClr val="454F58"/>
                </a:solidFill>
                <a:latin typeface="Arial"/>
              </a:rPr>
              <a:t>built around co-registered Cartosat-2S optical / RISAT SAR pairs as used in the official PS26167 evaluation.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60CF74-9156-3F29-6B63-97C6B200F282}"/>
              </a:ext>
            </a:extLst>
          </p:cNvPr>
          <p:cNvSpPr txBox="1"/>
          <p:nvPr/>
        </p:nvSpPr>
        <p:spPr>
          <a:xfrm>
            <a:off x="4648200" y="4551327"/>
            <a:ext cx="548640" cy="35063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IN" b="1" i="0" dirty="0">
                <a:solidFill>
                  <a:srgbClr val="0D2A4A"/>
                </a:solidFill>
                <a:latin typeface="Arial"/>
              </a:rPr>
              <a:t>↓</a:t>
            </a:r>
            <a:endParaRPr b="1" i="0" dirty="0">
              <a:solidFill>
                <a:srgbClr val="0D2A4A"/>
              </a:solidFill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FD113B-ADC5-1357-2547-5275DDCD1C59}"/>
              </a:ext>
            </a:extLst>
          </p:cNvPr>
          <p:cNvSpPr txBox="1"/>
          <p:nvPr/>
        </p:nvSpPr>
        <p:spPr>
          <a:xfrm>
            <a:off x="4928168" y="2990193"/>
            <a:ext cx="23288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i="0" dirty="0">
                <a:solidFill>
                  <a:srgbClr val="0D2A4A"/>
                </a:solidFill>
                <a:latin typeface="Arial"/>
              </a:rPr>
              <a:t>↓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52FEF6-75AA-7FE0-9CF3-01C70AC5235B}"/>
              </a:ext>
            </a:extLst>
          </p:cNvPr>
          <p:cNvSpPr txBox="1"/>
          <p:nvPr/>
        </p:nvSpPr>
        <p:spPr>
          <a:xfrm>
            <a:off x="3684333" y="2990193"/>
            <a:ext cx="14614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i="0" dirty="0">
                <a:solidFill>
                  <a:srgbClr val="0D2A4A"/>
                </a:solidFill>
                <a:latin typeface="Arial"/>
              </a:rPr>
              <a:t>↓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2CA9A0-27AC-FBBA-CD8A-32854E3E8CED}"/>
              </a:ext>
            </a:extLst>
          </p:cNvPr>
          <p:cNvSpPr txBox="1"/>
          <p:nvPr/>
        </p:nvSpPr>
        <p:spPr>
          <a:xfrm>
            <a:off x="1023617" y="2973016"/>
            <a:ext cx="9015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i="0" dirty="0">
                <a:solidFill>
                  <a:srgbClr val="0D2A4A"/>
                </a:solidFill>
                <a:latin typeface="Arial"/>
              </a:rPr>
              <a:t>↓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65760" y="1188720"/>
            <a:ext cx="5532120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/>
            <a:r>
              <a:rPr sz="1700" b="1" i="0" dirty="0">
                <a:solidFill>
                  <a:srgbClr val="0070C0"/>
                </a:solidFill>
                <a:latin typeface="Arial"/>
              </a:rPr>
              <a:t>Why </a:t>
            </a:r>
            <a:r>
              <a:rPr sz="1700" b="1" i="0" dirty="0" err="1">
                <a:solidFill>
                  <a:srgbClr val="0070C0"/>
                </a:solidFill>
                <a:latin typeface="Arial"/>
              </a:rPr>
              <a:t>SatQuery</a:t>
            </a:r>
            <a:r>
              <a:rPr sz="1700" b="1" i="0" dirty="0">
                <a:solidFill>
                  <a:srgbClr val="0070C0"/>
                </a:solidFill>
                <a:latin typeface="Arial"/>
              </a:rPr>
              <a:t> AI Is Feasible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178724" y="1503403"/>
            <a:ext cx="553212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/>
            <a:r>
              <a:rPr sz="1600" b="1" i="0" dirty="0">
                <a:solidFill>
                  <a:srgbClr val="029690"/>
                </a:solidFill>
                <a:latin typeface="Arial"/>
              </a:rPr>
              <a:t>● </a:t>
            </a:r>
            <a:r>
              <a:rPr sz="1600" b="1" i="0" dirty="0">
                <a:solidFill>
                  <a:srgbClr val="0D2A4A"/>
                </a:solidFill>
                <a:latin typeface="Arial"/>
              </a:rPr>
              <a:t>Dataset Availability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178724" y="1796953"/>
            <a:ext cx="5917276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400" b="0" i="0" dirty="0">
                <a:solidFill>
                  <a:srgbClr val="222B33"/>
                </a:solidFill>
                <a:latin typeface="Arial"/>
              </a:rPr>
              <a:t>Public remote-sensing benchmarks already exist for VQA, grounding, captioning and change understanding — </a:t>
            </a:r>
            <a:r>
              <a:rPr sz="1400" b="0" i="0" dirty="0" err="1">
                <a:solidFill>
                  <a:srgbClr val="222B33"/>
                </a:solidFill>
                <a:latin typeface="Arial"/>
              </a:rPr>
              <a:t>BigEarthNet</a:t>
            </a:r>
            <a:r>
              <a:rPr sz="1400" b="0" i="0" dirty="0">
                <a:solidFill>
                  <a:srgbClr val="222B33"/>
                </a:solidFill>
                <a:latin typeface="Arial"/>
              </a:rPr>
              <a:t> provides paired Sentinel-1/2 data, </a:t>
            </a:r>
            <a:r>
              <a:rPr sz="1400" b="0" i="0" dirty="0" err="1">
                <a:solidFill>
                  <a:srgbClr val="222B33"/>
                </a:solidFill>
                <a:latin typeface="Arial"/>
              </a:rPr>
              <a:t>VRSBench</a:t>
            </a:r>
            <a:r>
              <a:rPr sz="1400" b="0" i="0" dirty="0">
                <a:solidFill>
                  <a:srgbClr val="222B33"/>
                </a:solidFill>
                <a:latin typeface="Arial"/>
              </a:rPr>
              <a:t> provides large-scale RS-VLM annotations.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178724" y="2514198"/>
            <a:ext cx="553212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/>
            <a:r>
              <a:rPr sz="1500" b="1" i="0" dirty="0">
                <a:solidFill>
                  <a:srgbClr val="029690"/>
                </a:solidFill>
                <a:latin typeface="Arial"/>
              </a:rPr>
              <a:t>● </a:t>
            </a:r>
            <a:r>
              <a:rPr sz="1500" b="1" i="0" dirty="0">
                <a:solidFill>
                  <a:srgbClr val="0D2A4A"/>
                </a:solidFill>
                <a:latin typeface="Arial"/>
              </a:rPr>
              <a:t>Modular Architecture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178724" y="2787741"/>
            <a:ext cx="5204043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/>
            <a:r>
              <a:rPr sz="1400" b="0" i="0" dirty="0">
                <a:solidFill>
                  <a:srgbClr val="222B33"/>
                </a:solidFill>
                <a:latin typeface="Arial"/>
              </a:rPr>
              <a:t>We don’t train one giant model from scratch — this reduces development risk.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138197" y="3306546"/>
            <a:ext cx="1302604" cy="886650"/>
          </a:xfrm>
          <a:prstGeom prst="roundRect">
            <a:avLst>
              <a:gd name="adj" fmla="val 10000"/>
            </a:avLst>
          </a:prstGeom>
          <a:solidFill>
            <a:srgbClr val="EAF3FB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6" name="TextBox 17415"/>
          <p:cNvSpPr txBox="1"/>
          <p:nvPr/>
        </p:nvSpPr>
        <p:spPr>
          <a:xfrm>
            <a:off x="274320" y="3516687"/>
            <a:ext cx="1097280" cy="338073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 dirty="0">
                <a:solidFill>
                  <a:srgbClr val="0D2A4A"/>
                </a:solidFill>
                <a:latin typeface="Arial"/>
              </a:rPr>
              <a:t>Specialist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600" b="0" i="0" dirty="0">
                <a:solidFill>
                  <a:srgbClr val="454F58"/>
                </a:solidFill>
                <a:latin typeface="Arial"/>
              </a:rPr>
              <a:t>Models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1201606" y="3522042"/>
            <a:ext cx="613894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300" b="1" i="0" dirty="0">
                <a:solidFill>
                  <a:srgbClr val="0D2A4A"/>
                </a:solidFill>
                <a:latin typeface="Arial"/>
              </a:rPr>
              <a:t>+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1591263" y="3297856"/>
            <a:ext cx="1239012" cy="886650"/>
          </a:xfrm>
          <a:prstGeom prst="roundRect">
            <a:avLst>
              <a:gd name="adj" fmla="val 10000"/>
            </a:avLst>
          </a:prstGeom>
          <a:solidFill>
            <a:srgbClr val="EAF3FB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9" name="TextBox 17418"/>
          <p:cNvSpPr txBox="1"/>
          <p:nvPr/>
        </p:nvSpPr>
        <p:spPr>
          <a:xfrm>
            <a:off x="1664105" y="3513100"/>
            <a:ext cx="1097280" cy="29229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 dirty="0">
                <a:solidFill>
                  <a:srgbClr val="0D2A4A"/>
                </a:solidFill>
                <a:latin typeface="Arial"/>
              </a:rPr>
              <a:t>RS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600" b="0" i="0" dirty="0">
                <a:solidFill>
                  <a:srgbClr val="454F58"/>
                </a:solidFill>
                <a:latin typeface="Arial"/>
              </a:rPr>
              <a:t>Adaptation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2745074" y="3523482"/>
            <a:ext cx="30736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300" b="1" i="0" dirty="0">
                <a:solidFill>
                  <a:srgbClr val="0D2A4A"/>
                </a:solidFill>
                <a:latin typeface="Arial"/>
              </a:rPr>
              <a:t>+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2975123" y="3281906"/>
            <a:ext cx="1316736" cy="911290"/>
          </a:xfrm>
          <a:prstGeom prst="roundRect">
            <a:avLst>
              <a:gd name="adj" fmla="val 10000"/>
            </a:avLst>
          </a:prstGeom>
          <a:solidFill>
            <a:srgbClr val="EAF3FB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2" name="TextBox 17421"/>
          <p:cNvSpPr txBox="1"/>
          <p:nvPr/>
        </p:nvSpPr>
        <p:spPr>
          <a:xfrm>
            <a:off x="3077786" y="3522420"/>
            <a:ext cx="1097280" cy="29229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 dirty="0">
                <a:solidFill>
                  <a:srgbClr val="0D2A4A"/>
                </a:solidFill>
                <a:latin typeface="Arial"/>
              </a:rPr>
              <a:t>Agentic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600" b="0" i="0" dirty="0">
                <a:solidFill>
                  <a:srgbClr val="454F58"/>
                </a:solidFill>
                <a:latin typeface="Arial"/>
              </a:rPr>
              <a:t>Router</a:t>
            </a:r>
          </a:p>
        </p:txBody>
      </p:sp>
      <p:sp>
        <p:nvSpPr>
          <p:cNvPr id="17423" name="TextBox 17422"/>
          <p:cNvSpPr txBox="1"/>
          <p:nvPr/>
        </p:nvSpPr>
        <p:spPr>
          <a:xfrm flipH="1">
            <a:off x="4187953" y="3496625"/>
            <a:ext cx="34581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300" b="1" i="0" dirty="0">
                <a:solidFill>
                  <a:srgbClr val="0D2A4A"/>
                </a:solidFill>
                <a:latin typeface="Arial"/>
              </a:rPr>
              <a:t>+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4453128" y="3290534"/>
            <a:ext cx="1508760" cy="886650"/>
          </a:xfrm>
          <a:prstGeom prst="roundRect">
            <a:avLst>
              <a:gd name="adj" fmla="val 10000"/>
            </a:avLst>
          </a:prstGeom>
          <a:solidFill>
            <a:srgbClr val="EAF3FB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5" name="TextBox 17424"/>
          <p:cNvSpPr txBox="1"/>
          <p:nvPr/>
        </p:nvSpPr>
        <p:spPr>
          <a:xfrm>
            <a:off x="4658868" y="3513100"/>
            <a:ext cx="1097280" cy="345249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 dirty="0">
                <a:solidFill>
                  <a:srgbClr val="0D2A4A"/>
                </a:solidFill>
                <a:latin typeface="Arial"/>
              </a:rPr>
              <a:t>Evidence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600" b="0" i="0" dirty="0">
                <a:solidFill>
                  <a:srgbClr val="454F58"/>
                </a:solidFill>
                <a:latin typeface="Arial"/>
              </a:rPr>
              <a:t>Verification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173736" y="4276705"/>
            <a:ext cx="5532120" cy="68579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/>
            <a:r>
              <a:rPr sz="1700" b="1" i="0" dirty="0">
                <a:solidFill>
                  <a:srgbClr val="029690"/>
                </a:solidFill>
                <a:latin typeface="Arial"/>
              </a:rPr>
              <a:t>● </a:t>
            </a:r>
            <a:r>
              <a:rPr sz="1700" b="1" i="0" dirty="0">
                <a:solidFill>
                  <a:srgbClr val="0D2A4A"/>
                </a:solidFill>
                <a:latin typeface="Arial"/>
              </a:rPr>
              <a:t>Progressive Implementation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173736" y="4736590"/>
            <a:ext cx="1874520" cy="1252411"/>
          </a:xfrm>
          <a:prstGeom prst="roundRect">
            <a:avLst>
              <a:gd name="adj" fmla="val 10000"/>
            </a:avLst>
          </a:prstGeom>
          <a:solidFill>
            <a:srgbClr val="EAF3FB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8" name="TextBox 17427"/>
          <p:cNvSpPr txBox="1"/>
          <p:nvPr/>
        </p:nvSpPr>
        <p:spPr>
          <a:xfrm>
            <a:off x="201168" y="4862827"/>
            <a:ext cx="1819656" cy="928273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 i="0" dirty="0">
                <a:solidFill>
                  <a:srgbClr val="0D2A4A"/>
                </a:solidFill>
                <a:latin typeface="Arial"/>
              </a:rPr>
              <a:t>MVP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500" b="0" i="0" dirty="0">
                <a:solidFill>
                  <a:srgbClr val="454F58"/>
                </a:solidFill>
                <a:latin typeface="Arial"/>
              </a:rPr>
              <a:t>Single-image VQA + Detection/Grounding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1911095" y="5233690"/>
            <a:ext cx="4572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500" b="1" i="0" dirty="0">
                <a:solidFill>
                  <a:srgbClr val="0D2A4A"/>
                </a:solidFill>
                <a:latin typeface="Arial"/>
              </a:rPr>
              <a:t>→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2240279" y="4727448"/>
            <a:ext cx="1691639" cy="1252410"/>
          </a:xfrm>
          <a:prstGeom prst="roundRect">
            <a:avLst>
              <a:gd name="adj" fmla="val 10000"/>
            </a:avLst>
          </a:prstGeom>
          <a:solidFill>
            <a:srgbClr val="EAF3FB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1" name="TextBox 17430"/>
          <p:cNvSpPr txBox="1"/>
          <p:nvPr/>
        </p:nvSpPr>
        <p:spPr>
          <a:xfrm>
            <a:off x="2267713" y="4933029"/>
            <a:ext cx="1645919" cy="736251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 i="0" dirty="0">
                <a:solidFill>
                  <a:srgbClr val="0D2A4A"/>
                </a:solidFill>
                <a:latin typeface="Arial"/>
              </a:rPr>
              <a:t>Advanced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500" b="0" i="0" dirty="0">
                <a:solidFill>
                  <a:srgbClr val="454F58"/>
                </a:solidFill>
                <a:latin typeface="Arial"/>
              </a:rPr>
              <a:t>Bi-temporal Change Analysis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3778135" y="5250319"/>
            <a:ext cx="4572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500" b="1" i="0">
                <a:solidFill>
                  <a:srgbClr val="0D2A4A"/>
                </a:solidFill>
                <a:latin typeface="Arial"/>
              </a:rPr>
              <a:t>→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4096512" y="4712997"/>
            <a:ext cx="1874520" cy="1279842"/>
          </a:xfrm>
          <a:prstGeom prst="roundRect">
            <a:avLst>
              <a:gd name="adj" fmla="val 10000"/>
            </a:avLst>
          </a:prstGeom>
          <a:solidFill>
            <a:srgbClr val="DDECFB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4" name="TextBox 17433"/>
          <p:cNvSpPr txBox="1"/>
          <p:nvPr/>
        </p:nvSpPr>
        <p:spPr>
          <a:xfrm>
            <a:off x="4096511" y="4967352"/>
            <a:ext cx="1865377" cy="738441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 i="0" dirty="0">
                <a:solidFill>
                  <a:srgbClr val="0D2A4A"/>
                </a:solidFill>
                <a:latin typeface="Arial"/>
              </a:rPr>
              <a:t>Full PS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500" b="0" i="0" dirty="0">
                <a:solidFill>
                  <a:srgbClr val="454F58"/>
                </a:solidFill>
                <a:latin typeface="Arial"/>
              </a:rPr>
              <a:t>Optical–SAR + Orchestration + Reports + Abstention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6167627" y="917757"/>
            <a:ext cx="5669280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/>
            <a:r>
              <a:rPr sz="1700" b="1" i="0" dirty="0">
                <a:solidFill>
                  <a:srgbClr val="0070C0"/>
                </a:solidFill>
                <a:latin typeface="Arial"/>
              </a:rPr>
              <a:t>Key Risks &amp; Mitigation</a:t>
            </a:r>
          </a:p>
        </p:txBody>
      </p:sp>
      <p:graphicFrame>
        <p:nvGraphicFramePr>
          <p:cNvPr id="17436" name="Table 174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0611230"/>
              </p:ext>
            </p:extLst>
          </p:nvPr>
        </p:nvGraphicFramePr>
        <p:xfrm>
          <a:off x="6172201" y="1235106"/>
          <a:ext cx="5669279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78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14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500" b="1" dirty="0">
                          <a:solidFill>
                            <a:srgbClr val="FFFFFF"/>
                          </a:solidFill>
                          <a:latin typeface="Arial"/>
                        </a:rPr>
                        <a:t>Challenge</a:t>
                      </a:r>
                    </a:p>
                  </a:txBody>
                  <a:tcPr anchor="ctr">
                    <a:solidFill>
                      <a:srgbClr val="0D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dirty="0">
                          <a:solidFill>
                            <a:srgbClr val="FFFFFF"/>
                          </a:solidFill>
                          <a:latin typeface="Arial"/>
                        </a:rPr>
                        <a:t>Mitigation</a:t>
                      </a:r>
                    </a:p>
                  </a:txBody>
                  <a:tcPr anchor="ctr">
                    <a:solidFill>
                      <a:srgbClr val="0D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22B33"/>
                          </a:solidFill>
                          <a:latin typeface="Arial"/>
                        </a:rPr>
                        <a:t>VLM hallucination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B33"/>
                          </a:solidFill>
                          <a:latin typeface="Arial"/>
                        </a:rPr>
                        <a:t>Visual Citation + grounding verification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500" b="1" dirty="0">
                          <a:solidFill>
                            <a:srgbClr val="222B33"/>
                          </a:solidFill>
                          <a:latin typeface="Arial"/>
                        </a:rPr>
                        <a:t>Low-confidence predictions</a:t>
                      </a:r>
                    </a:p>
                  </a:txBody>
                  <a:tcPr marT="18288" marB="18288"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B33"/>
                          </a:solidFill>
                          <a:latin typeface="Arial"/>
                        </a:rPr>
                        <a:t>Abstention Path</a:t>
                      </a:r>
                    </a:p>
                  </a:txBody>
                  <a:tcPr marT="18288" marB="18288" anchor="ctr"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22B33"/>
                          </a:solidFill>
                          <a:latin typeface="Arial"/>
                        </a:rPr>
                        <a:t>Optical vs SAR differences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222B33"/>
                          </a:solidFill>
                          <a:latin typeface="Arial"/>
                        </a:rPr>
                        <a:t>Modality-specific processing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22B33"/>
                          </a:solidFill>
                          <a:latin typeface="Arial"/>
                        </a:rPr>
                        <a:t>Different image resolutions</a:t>
                      </a:r>
                    </a:p>
                  </a:txBody>
                  <a:tcPr marT="18288" marB="18288"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B33"/>
                          </a:solidFill>
                          <a:latin typeface="Arial"/>
                        </a:rPr>
                        <a:t>Input normalization + tiling</a:t>
                      </a:r>
                    </a:p>
                  </a:txBody>
                  <a:tcPr marT="18288" marB="18288" anchor="ctr"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22B33"/>
                          </a:solidFill>
                          <a:latin typeface="Arial"/>
                        </a:rPr>
                        <a:t>Temporal misalignment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B33"/>
                          </a:solidFill>
                          <a:latin typeface="Arial"/>
                        </a:rPr>
                        <a:t>Co-registration validation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500" b="1" dirty="0">
                          <a:solidFill>
                            <a:srgbClr val="222B33"/>
                          </a:solidFill>
                          <a:latin typeface="Arial"/>
                        </a:rPr>
                        <a:t>Model routing complexity</a:t>
                      </a:r>
                    </a:p>
                  </a:txBody>
                  <a:tcPr marT="18288" marB="18288"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222B33"/>
                          </a:solidFill>
                          <a:latin typeface="Arial"/>
                        </a:rPr>
                        <a:t>Predefined specialist tool registry</a:t>
                      </a:r>
                    </a:p>
                  </a:txBody>
                  <a:tcPr marT="18288" marB="18288" anchor="ctr"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437" name="TextBox 17436"/>
          <p:cNvSpPr txBox="1"/>
          <p:nvPr/>
        </p:nvSpPr>
        <p:spPr>
          <a:xfrm>
            <a:off x="6172200" y="4395825"/>
            <a:ext cx="5669280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/>
            <a:r>
              <a:rPr sz="1900" b="1" i="0" dirty="0">
                <a:solidFill>
                  <a:srgbClr val="0D2A4A"/>
                </a:solidFill>
                <a:latin typeface="Arial"/>
              </a:rPr>
              <a:t>Scope Clarification (PS requires optical–SAR)</a:t>
            </a:r>
          </a:p>
        </p:txBody>
      </p:sp>
      <p:sp>
        <p:nvSpPr>
          <p:cNvPr id="17438" name="Rounded Rectangle 17437"/>
          <p:cNvSpPr/>
          <p:nvPr/>
        </p:nvSpPr>
        <p:spPr>
          <a:xfrm>
            <a:off x="6172200" y="4763768"/>
            <a:ext cx="2871216" cy="1204763"/>
          </a:xfrm>
          <a:prstGeom prst="roundRect">
            <a:avLst>
              <a:gd name="adj" fmla="val 8000"/>
            </a:avLst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9" name="TextBox 17438"/>
          <p:cNvSpPr txBox="1"/>
          <p:nvPr/>
        </p:nvSpPr>
        <p:spPr>
          <a:xfrm>
            <a:off x="6250200" y="4861314"/>
            <a:ext cx="2926080" cy="1078929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/>
            <a:r>
              <a:rPr sz="1500" b="1" i="0" dirty="0">
                <a:solidFill>
                  <a:srgbClr val="B02A25"/>
                </a:solidFill>
                <a:latin typeface="Arial"/>
              </a:rPr>
              <a:t>Out of scope: </a:t>
            </a:r>
          </a:p>
          <a:p>
            <a:pPr algn="l">
              <a:lnSpc>
                <a:spcPct val="100000"/>
              </a:lnSpc>
            </a:pPr>
            <a:r>
              <a:rPr sz="1500" b="0" i="0" dirty="0">
                <a:solidFill>
                  <a:srgbClr val="222B33"/>
                </a:solidFill>
                <a:latin typeface="Arial"/>
              </a:rPr>
              <a:t>Full SAR physics</a:t>
            </a:r>
            <a:r>
              <a:rPr lang="en-US" sz="1500" b="0" i="0" dirty="0">
                <a:solidFill>
                  <a:srgbClr val="222B33"/>
                </a:solidFill>
                <a:latin typeface="Arial"/>
              </a:rPr>
              <a:t> </a:t>
            </a:r>
            <a:r>
              <a:rPr sz="1500" b="0" i="0" dirty="0">
                <a:solidFill>
                  <a:srgbClr val="222B33"/>
                </a:solidFill>
                <a:latin typeface="Arial"/>
              </a:rPr>
              <a:t>/</a:t>
            </a:r>
            <a:r>
              <a:rPr lang="en-US" sz="1500" b="0" i="0" dirty="0">
                <a:solidFill>
                  <a:srgbClr val="222B33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222B33"/>
                </a:solidFill>
                <a:latin typeface="Arial"/>
              </a:rPr>
              <a:t>despeckling</a:t>
            </a:r>
            <a:r>
              <a:rPr sz="1500" b="0" i="0" dirty="0">
                <a:solidFill>
                  <a:srgbClr val="222B33"/>
                </a:solidFill>
                <a:latin typeface="Arial"/>
              </a:rPr>
              <a:t>; nationwide real-time archive processing</a:t>
            </a:r>
          </a:p>
        </p:txBody>
      </p:sp>
      <p:sp>
        <p:nvSpPr>
          <p:cNvPr id="17440" name="Rounded Rectangle 17439"/>
          <p:cNvSpPr/>
          <p:nvPr/>
        </p:nvSpPr>
        <p:spPr>
          <a:xfrm>
            <a:off x="9208008" y="4763769"/>
            <a:ext cx="2871216" cy="1204764"/>
          </a:xfrm>
          <a:prstGeom prst="roundRect">
            <a:avLst>
              <a:gd name="adj" fmla="val 8000"/>
            </a:avLst>
          </a:prstGeom>
          <a:solidFill>
            <a:srgbClr val="E7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1" name="TextBox 17440"/>
          <p:cNvSpPr txBox="1"/>
          <p:nvPr/>
        </p:nvSpPr>
        <p:spPr>
          <a:xfrm>
            <a:off x="9208008" y="4862827"/>
            <a:ext cx="2871216" cy="537953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/>
            <a:r>
              <a:rPr sz="1500" b="1" i="0" dirty="0">
                <a:solidFill>
                  <a:srgbClr val="1E7B34"/>
                </a:solidFill>
                <a:latin typeface="Arial"/>
              </a:rPr>
              <a:t>In scope: </a:t>
            </a:r>
          </a:p>
          <a:p>
            <a:pPr algn="l">
              <a:lnSpc>
                <a:spcPct val="100000"/>
              </a:lnSpc>
            </a:pPr>
            <a:r>
              <a:rPr sz="1500" b="0" i="0" dirty="0">
                <a:solidFill>
                  <a:srgbClr val="222B33"/>
                </a:solidFill>
                <a:latin typeface="Arial"/>
              </a:rPr>
              <a:t>Optical–SAR feature extraction, cross-modal reasoning, evidence visualization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815098" y="128243"/>
            <a:ext cx="10041323" cy="1051747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 AND 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17461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29773" y="1127038"/>
            <a:ext cx="1577270" cy="31144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/>
            <a:r>
              <a:rPr sz="1700" b="1" i="0" dirty="0">
                <a:solidFill>
                  <a:srgbClr val="0070C0"/>
                </a:solidFill>
                <a:latin typeface="Arial"/>
              </a:rPr>
              <a:t>Target Users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65760" y="1480497"/>
            <a:ext cx="2731770" cy="1204389"/>
          </a:xfrm>
          <a:prstGeom prst="roundRect">
            <a:avLst>
              <a:gd name="adj" fmla="val 8000"/>
            </a:avLst>
          </a:prstGeom>
          <a:solidFill>
            <a:srgbClr val="F4F8FC"/>
          </a:solidFill>
          <a:ln w="9525">
            <a:solidFill>
              <a:srgbClr val="C7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412" name="Oval 17411"/>
          <p:cNvSpPr/>
          <p:nvPr/>
        </p:nvSpPr>
        <p:spPr>
          <a:xfrm>
            <a:off x="1481429" y="1482155"/>
            <a:ext cx="472059" cy="435813"/>
          </a:xfrm>
          <a:prstGeom prst="ellipse">
            <a:avLst/>
          </a:prstGeom>
          <a:solidFill>
            <a:srgbClr val="029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3" name="TextBox 17412"/>
          <p:cNvSpPr txBox="1"/>
          <p:nvPr/>
        </p:nvSpPr>
        <p:spPr>
          <a:xfrm>
            <a:off x="1522995" y="1565400"/>
            <a:ext cx="384048" cy="29169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300" b="1" i="0" dirty="0">
                <a:solidFill>
                  <a:srgbClr val="FFFFFF"/>
                </a:solidFill>
                <a:latin typeface="Arial"/>
              </a:rPr>
              <a:t>DM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367195" y="1935427"/>
            <a:ext cx="2731770" cy="4389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/>
            <a:r>
              <a:rPr sz="1500" b="1" i="0" dirty="0">
                <a:solidFill>
                  <a:srgbClr val="0D2A4A"/>
                </a:solidFill>
                <a:latin typeface="Arial"/>
              </a:rPr>
              <a:t>Disaster Management</a:t>
            </a:r>
          </a:p>
          <a:p>
            <a:pPr algn="ctr">
              <a:lnSpc>
                <a:spcPct val="98000"/>
              </a:lnSpc>
              <a:spcBef>
                <a:spcPts val="100"/>
              </a:spcBef>
            </a:pPr>
            <a:r>
              <a:rPr sz="1500" b="0" i="0" dirty="0">
                <a:solidFill>
                  <a:srgbClr val="454F58"/>
                </a:solidFill>
                <a:latin typeface="Arial"/>
              </a:rPr>
              <a:t>Flood / damage / infrastructure change analysis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3280410" y="1480498"/>
            <a:ext cx="2731770" cy="1204388"/>
          </a:xfrm>
          <a:prstGeom prst="roundRect">
            <a:avLst>
              <a:gd name="adj" fmla="val 8000"/>
            </a:avLst>
          </a:prstGeom>
          <a:solidFill>
            <a:srgbClr val="F4F8FC"/>
          </a:solidFill>
          <a:ln w="9525">
            <a:solidFill>
              <a:srgbClr val="C7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6" name="Oval 17415"/>
          <p:cNvSpPr/>
          <p:nvPr/>
        </p:nvSpPr>
        <p:spPr>
          <a:xfrm>
            <a:off x="4434674" y="1479469"/>
            <a:ext cx="440490" cy="444732"/>
          </a:xfrm>
          <a:prstGeom prst="ellipse">
            <a:avLst/>
          </a:prstGeom>
          <a:solidFill>
            <a:srgbClr val="029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417" name="TextBox 17416"/>
          <p:cNvSpPr txBox="1"/>
          <p:nvPr/>
        </p:nvSpPr>
        <p:spPr>
          <a:xfrm>
            <a:off x="4520775" y="1573599"/>
            <a:ext cx="259045" cy="25833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300" b="1" i="0" dirty="0">
                <a:solidFill>
                  <a:srgbClr val="FFFFFF"/>
                </a:solidFill>
                <a:latin typeface="Arial"/>
              </a:rPr>
              <a:t>AG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3353562" y="1960140"/>
            <a:ext cx="2585466" cy="4389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/>
            <a:r>
              <a:rPr sz="1500" b="1" i="0" dirty="0">
                <a:solidFill>
                  <a:srgbClr val="0D2A4A"/>
                </a:solidFill>
                <a:latin typeface="Arial"/>
              </a:rPr>
              <a:t>Agriculture</a:t>
            </a:r>
          </a:p>
          <a:p>
            <a:pPr algn="ctr">
              <a:lnSpc>
                <a:spcPct val="98000"/>
              </a:lnSpc>
              <a:spcBef>
                <a:spcPts val="100"/>
              </a:spcBef>
            </a:pPr>
            <a:r>
              <a:rPr sz="1500" b="0" i="0" dirty="0">
                <a:solidFill>
                  <a:srgbClr val="454F58"/>
                </a:solidFill>
                <a:latin typeface="Arial"/>
              </a:rPr>
              <a:t>Land-cover &amp; agricultural-area monitoring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6195060" y="1480498"/>
            <a:ext cx="2731770" cy="1204388"/>
          </a:xfrm>
          <a:prstGeom prst="roundRect">
            <a:avLst>
              <a:gd name="adj" fmla="val 8000"/>
            </a:avLst>
          </a:prstGeom>
          <a:solidFill>
            <a:srgbClr val="F4F8FC"/>
          </a:solidFill>
          <a:ln w="9525">
            <a:solidFill>
              <a:srgbClr val="C7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0" name="Oval 17419"/>
          <p:cNvSpPr/>
          <p:nvPr/>
        </p:nvSpPr>
        <p:spPr>
          <a:xfrm>
            <a:off x="7290262" y="1504606"/>
            <a:ext cx="454394" cy="436415"/>
          </a:xfrm>
          <a:prstGeom prst="ellipse">
            <a:avLst/>
          </a:prstGeom>
          <a:solidFill>
            <a:srgbClr val="029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1" name="TextBox 17420"/>
          <p:cNvSpPr txBox="1"/>
          <p:nvPr/>
        </p:nvSpPr>
        <p:spPr>
          <a:xfrm>
            <a:off x="7389847" y="1623157"/>
            <a:ext cx="271679" cy="21810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300" b="1" i="0" dirty="0">
                <a:solidFill>
                  <a:srgbClr val="FFFFFF"/>
                </a:solidFill>
                <a:latin typeface="Arial"/>
              </a:rPr>
              <a:t>UP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6268212" y="1941021"/>
            <a:ext cx="2585466" cy="4389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/>
            <a:r>
              <a:rPr sz="1500" b="1" i="0" dirty="0">
                <a:solidFill>
                  <a:srgbClr val="0D2A4A"/>
                </a:solidFill>
                <a:latin typeface="Arial"/>
              </a:rPr>
              <a:t>Urban Planning</a:t>
            </a:r>
          </a:p>
          <a:p>
            <a:pPr algn="ctr">
              <a:lnSpc>
                <a:spcPct val="98000"/>
              </a:lnSpc>
              <a:spcBef>
                <a:spcPts val="100"/>
              </a:spcBef>
            </a:pPr>
            <a:r>
              <a:rPr sz="1500" b="0" i="0" dirty="0">
                <a:solidFill>
                  <a:srgbClr val="454F58"/>
                </a:solidFill>
                <a:latin typeface="Arial"/>
              </a:rPr>
              <a:t>Built-up growth, roads &amp; infrastructure change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9109710" y="1480498"/>
            <a:ext cx="2731770" cy="1204387"/>
          </a:xfrm>
          <a:prstGeom prst="roundRect">
            <a:avLst>
              <a:gd name="adj" fmla="val 8000"/>
            </a:avLst>
          </a:prstGeom>
          <a:solidFill>
            <a:srgbClr val="F4F8FC"/>
          </a:solidFill>
          <a:ln w="9525">
            <a:solidFill>
              <a:srgbClr val="C7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4" name="Oval 17423"/>
          <p:cNvSpPr/>
          <p:nvPr/>
        </p:nvSpPr>
        <p:spPr>
          <a:xfrm>
            <a:off x="10233963" y="1523133"/>
            <a:ext cx="433656" cy="409575"/>
          </a:xfrm>
          <a:prstGeom prst="ellipse">
            <a:avLst/>
          </a:prstGeom>
          <a:solidFill>
            <a:srgbClr val="029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5" name="TextBox 17424"/>
          <p:cNvSpPr txBox="1"/>
          <p:nvPr/>
        </p:nvSpPr>
        <p:spPr>
          <a:xfrm>
            <a:off x="10268208" y="1573919"/>
            <a:ext cx="341220" cy="3172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300" b="1" i="0" dirty="0">
                <a:solidFill>
                  <a:srgbClr val="FFFFFF"/>
                </a:solidFill>
                <a:latin typeface="Arial"/>
              </a:rPr>
              <a:t>EN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9182862" y="1952371"/>
            <a:ext cx="2585466" cy="4389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/>
            <a:r>
              <a:rPr sz="1500" b="1" i="0" dirty="0">
                <a:solidFill>
                  <a:srgbClr val="0D2A4A"/>
                </a:solidFill>
                <a:latin typeface="Arial"/>
              </a:rPr>
              <a:t>Environment</a:t>
            </a:r>
          </a:p>
          <a:p>
            <a:pPr algn="ctr">
              <a:lnSpc>
                <a:spcPct val="98000"/>
              </a:lnSpc>
              <a:spcBef>
                <a:spcPts val="100"/>
              </a:spcBef>
            </a:pPr>
            <a:r>
              <a:rPr sz="1500" b="0" i="0" dirty="0">
                <a:solidFill>
                  <a:srgbClr val="454F58"/>
                </a:solidFill>
                <a:latin typeface="Arial"/>
              </a:rPr>
              <a:t>Water bodies, vegetation &amp; land-use monitoring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365760" y="2752343"/>
            <a:ext cx="2028305" cy="351241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/>
            <a:r>
              <a:rPr sz="1700" b="1" i="0" dirty="0">
                <a:solidFill>
                  <a:srgbClr val="0070C0"/>
                </a:solidFill>
                <a:latin typeface="Arial"/>
              </a:rPr>
              <a:t>Key Benefits</a:t>
            </a:r>
          </a:p>
        </p:txBody>
      </p:sp>
      <p:sp>
        <p:nvSpPr>
          <p:cNvPr id="17428" name="Oval 17427"/>
          <p:cNvSpPr/>
          <p:nvPr/>
        </p:nvSpPr>
        <p:spPr>
          <a:xfrm>
            <a:off x="329773" y="3161234"/>
            <a:ext cx="575241" cy="535531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dirty="0"/>
          </a:p>
        </p:txBody>
      </p:sp>
      <p:sp>
        <p:nvSpPr>
          <p:cNvPr id="17429" name="TextBox 17428"/>
          <p:cNvSpPr txBox="1"/>
          <p:nvPr/>
        </p:nvSpPr>
        <p:spPr>
          <a:xfrm>
            <a:off x="348997" y="3091815"/>
            <a:ext cx="466102" cy="6558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6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600" b="1" i="0" dirty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367195" y="3742387"/>
            <a:ext cx="2244331" cy="1252413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i="0" dirty="0">
                <a:solidFill>
                  <a:srgbClr val="0D2A4A"/>
                </a:solidFill>
                <a:latin typeface="Arial"/>
              </a:rPr>
              <a:t>Accessibility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600" b="0" i="0" dirty="0">
                <a:solidFill>
                  <a:srgbClr val="454F58"/>
                </a:solidFill>
                <a:latin typeface="Arial"/>
              </a:rPr>
              <a:t>Natural language instead of complex GIS workflows</a:t>
            </a:r>
          </a:p>
        </p:txBody>
      </p:sp>
      <p:sp>
        <p:nvSpPr>
          <p:cNvPr id="17431" name="Oval 17430"/>
          <p:cNvSpPr/>
          <p:nvPr/>
        </p:nvSpPr>
        <p:spPr>
          <a:xfrm>
            <a:off x="2766973" y="3136390"/>
            <a:ext cx="575241" cy="535531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2" name="TextBox 17431"/>
          <p:cNvSpPr txBox="1"/>
          <p:nvPr/>
        </p:nvSpPr>
        <p:spPr>
          <a:xfrm>
            <a:off x="2791913" y="3144704"/>
            <a:ext cx="513436" cy="53553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2693822" y="3747690"/>
            <a:ext cx="2163470" cy="1307275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i="0" dirty="0">
                <a:solidFill>
                  <a:srgbClr val="0D2A4A"/>
                </a:solidFill>
                <a:latin typeface="Arial"/>
              </a:rPr>
              <a:t>Faster Analysis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600" b="0" i="0" dirty="0">
                <a:solidFill>
                  <a:srgbClr val="454F58"/>
                </a:solidFill>
                <a:latin typeface="Arial"/>
              </a:rPr>
              <a:t>Auto-routes the question to the right model/tool</a:t>
            </a:r>
          </a:p>
        </p:txBody>
      </p:sp>
      <p:sp>
        <p:nvSpPr>
          <p:cNvPr id="17434" name="Oval 17433"/>
          <p:cNvSpPr/>
          <p:nvPr/>
        </p:nvSpPr>
        <p:spPr>
          <a:xfrm>
            <a:off x="4879612" y="3103585"/>
            <a:ext cx="575240" cy="568336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5" name="TextBox 17434"/>
          <p:cNvSpPr txBox="1"/>
          <p:nvPr/>
        </p:nvSpPr>
        <p:spPr>
          <a:xfrm>
            <a:off x="4959552" y="3221635"/>
            <a:ext cx="416302" cy="33039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4838319" y="3739896"/>
            <a:ext cx="2244331" cy="101498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i="0" dirty="0">
                <a:solidFill>
                  <a:srgbClr val="0D2A4A"/>
                </a:solidFill>
                <a:latin typeface="Arial"/>
              </a:rPr>
              <a:t>Explainable Results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600" b="0" i="0" dirty="0">
                <a:solidFill>
                  <a:srgbClr val="454F58"/>
                </a:solidFill>
                <a:latin typeface="Arial"/>
              </a:rPr>
              <a:t>Every count comes with a Visual Citation</a:t>
            </a:r>
          </a:p>
        </p:txBody>
      </p:sp>
      <p:sp>
        <p:nvSpPr>
          <p:cNvPr id="17437" name="Oval 17436"/>
          <p:cNvSpPr/>
          <p:nvPr/>
        </p:nvSpPr>
        <p:spPr>
          <a:xfrm>
            <a:off x="7423098" y="3136390"/>
            <a:ext cx="575239" cy="533039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8" name="TextBox 17437"/>
          <p:cNvSpPr txBox="1"/>
          <p:nvPr/>
        </p:nvSpPr>
        <p:spPr>
          <a:xfrm>
            <a:off x="7481290" y="3202895"/>
            <a:ext cx="429101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7368921" y="3739895"/>
            <a:ext cx="2163470" cy="5669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i="0" dirty="0">
                <a:solidFill>
                  <a:srgbClr val="0D2A4A"/>
                </a:solidFill>
                <a:latin typeface="Arial"/>
              </a:rPr>
              <a:t>Safer AI Interaction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600" b="0" i="0" dirty="0">
                <a:solidFill>
                  <a:srgbClr val="454F58"/>
                </a:solidFill>
                <a:latin typeface="Arial"/>
              </a:rPr>
              <a:t>Follows the Abstention Path instead of guessing when unsure</a:t>
            </a:r>
          </a:p>
        </p:txBody>
      </p:sp>
      <p:sp>
        <p:nvSpPr>
          <p:cNvPr id="17440" name="Oval 17439"/>
          <p:cNvSpPr/>
          <p:nvPr/>
        </p:nvSpPr>
        <p:spPr>
          <a:xfrm>
            <a:off x="9780086" y="3103584"/>
            <a:ext cx="575238" cy="53553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1" name="TextBox 17440"/>
          <p:cNvSpPr txBox="1"/>
          <p:nvPr/>
        </p:nvSpPr>
        <p:spPr>
          <a:xfrm>
            <a:off x="9868536" y="3155415"/>
            <a:ext cx="390366" cy="41563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9751161" y="3702243"/>
            <a:ext cx="2163470" cy="12524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i="0" dirty="0">
                <a:solidFill>
                  <a:srgbClr val="0D2A4A"/>
                </a:solidFill>
                <a:latin typeface="Arial"/>
              </a:rPr>
              <a:t>Scalability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600" b="0" i="0" dirty="0">
                <a:solidFill>
                  <a:srgbClr val="454F58"/>
                </a:solidFill>
                <a:latin typeface="Arial"/>
              </a:rPr>
              <a:t>Single image → pair → multimodal → EO archives</a:t>
            </a:r>
          </a:p>
        </p:txBody>
      </p:sp>
      <p:sp>
        <p:nvSpPr>
          <p:cNvPr id="17443" name="Rounded Rectangle 17442"/>
          <p:cNvSpPr/>
          <p:nvPr/>
        </p:nvSpPr>
        <p:spPr>
          <a:xfrm>
            <a:off x="365760" y="5339778"/>
            <a:ext cx="11475720" cy="878461"/>
          </a:xfrm>
          <a:prstGeom prst="roundRect">
            <a:avLst>
              <a:gd name="adj" fmla="val 10000"/>
            </a:avLst>
          </a:prstGeom>
          <a:solidFill>
            <a:srgbClr val="0D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4" name="TextBox 17443"/>
          <p:cNvSpPr txBox="1"/>
          <p:nvPr/>
        </p:nvSpPr>
        <p:spPr>
          <a:xfrm>
            <a:off x="475488" y="5397966"/>
            <a:ext cx="10927080" cy="74980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Autofit/>
          </a:bodyPr>
          <a:lstStyle/>
          <a:p>
            <a:pPr algn="ctr"/>
            <a:r>
              <a:rPr sz="1700" b="0" i="1" dirty="0">
                <a:solidFill>
                  <a:srgbClr val="CFE3F7"/>
                </a:solidFill>
                <a:latin typeface="Arial"/>
              </a:rPr>
              <a:t>From “What does the image show?” </a:t>
            </a:r>
            <a:r>
              <a:rPr sz="1700" b="0" i="0" dirty="0">
                <a:solidFill>
                  <a:srgbClr val="FFFFFF"/>
                </a:solidFill>
                <a:latin typeface="Arial"/>
              </a:rPr>
              <a:t>to </a:t>
            </a:r>
            <a:r>
              <a:rPr sz="1700" b="1" i="1" dirty="0">
                <a:solidFill>
                  <a:srgbClr val="E08E00"/>
                </a:solidFill>
                <a:latin typeface="Arial"/>
              </a:rPr>
              <a:t>“Show me why you think so.”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65760" y="1188719"/>
            <a:ext cx="5532120" cy="2130552"/>
          </a:xfrm>
          <a:prstGeom prst="roundRect">
            <a:avLst>
              <a:gd name="adj" fmla="val 5000"/>
            </a:avLst>
          </a:prstGeom>
          <a:solidFill>
            <a:srgbClr val="F4F8FC"/>
          </a:solidFill>
          <a:ln w="9525">
            <a:solidFill>
              <a:srgbClr val="C7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1" name="TextBox 17410"/>
          <p:cNvSpPr txBox="1"/>
          <p:nvPr/>
        </p:nvSpPr>
        <p:spPr>
          <a:xfrm>
            <a:off x="548640" y="1296543"/>
            <a:ext cx="5166360" cy="32210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/>
            <a:r>
              <a:rPr sz="1700" b="1" i="0" dirty="0">
                <a:solidFill>
                  <a:srgbClr val="0070C0"/>
                </a:solidFill>
                <a:latin typeface="Arial"/>
              </a:rPr>
              <a:t>Primary / Problem Reference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548640" y="1627632"/>
            <a:ext cx="5166359" cy="1223633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Bef>
                <a:spcPts val="500"/>
              </a:spcBef>
              <a:spcAft>
                <a:spcPts val="100"/>
              </a:spcAft>
            </a:pPr>
            <a:r>
              <a:rPr sz="1600" b="1" i="0" dirty="0">
                <a:solidFill>
                  <a:srgbClr val="0D2A4A"/>
                </a:solidFill>
                <a:latin typeface="Arial"/>
              </a:rPr>
              <a:t>SIH 2026 — PS26167 (</a:t>
            </a:r>
            <a:r>
              <a:rPr sz="1600" b="1" i="0" dirty="0" err="1">
                <a:solidFill>
                  <a:srgbClr val="0D2A4A"/>
                </a:solidFill>
                <a:latin typeface="Arial"/>
              </a:rPr>
              <a:t>SatQuery</a:t>
            </a:r>
            <a:r>
              <a:rPr sz="1600" b="1" i="0" dirty="0">
                <a:solidFill>
                  <a:srgbClr val="0D2A4A"/>
                </a:solidFill>
                <a:latin typeface="Arial"/>
              </a:rPr>
              <a:t> AI)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0" i="1" dirty="0">
                <a:solidFill>
                  <a:srgbClr val="454F58"/>
                </a:solidFill>
                <a:latin typeface="Arial"/>
              </a:rPr>
              <a:t>Official requirements: VQA, single-image task, change analysis, optical–SAR analysis, agentic orchestration — foundation of this architecture.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6172200" y="1188720"/>
            <a:ext cx="5654040" cy="2106254"/>
          </a:xfrm>
          <a:prstGeom prst="roundRect">
            <a:avLst>
              <a:gd name="adj" fmla="val 5000"/>
            </a:avLst>
          </a:prstGeom>
          <a:solidFill>
            <a:srgbClr val="F4F8FC"/>
          </a:solidFill>
          <a:ln w="9525">
            <a:solidFill>
              <a:srgbClr val="C7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4" name="TextBox 17413"/>
          <p:cNvSpPr txBox="1"/>
          <p:nvPr/>
        </p:nvSpPr>
        <p:spPr>
          <a:xfrm>
            <a:off x="6267796" y="1216429"/>
            <a:ext cx="5166359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/>
            <a:r>
              <a:rPr sz="1700" b="1" i="0" dirty="0">
                <a:solidFill>
                  <a:srgbClr val="0070C0"/>
                </a:solidFill>
                <a:latin typeface="Arial"/>
              </a:rPr>
              <a:t>Datasets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6250200" y="1517482"/>
            <a:ext cx="5558444" cy="8875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Bef>
                <a:spcPts val="500"/>
              </a:spcBef>
              <a:spcAft>
                <a:spcPts val="100"/>
              </a:spcAft>
            </a:pPr>
            <a:r>
              <a:rPr sz="1300" b="1" i="0" dirty="0" err="1">
                <a:solidFill>
                  <a:srgbClr val="0D2A4A"/>
                </a:solidFill>
                <a:latin typeface="Arial"/>
              </a:rPr>
              <a:t>BigEarthNet</a:t>
            </a:r>
            <a:r>
              <a:rPr lang="en-US" sz="1300" b="1" i="0" dirty="0">
                <a:solidFill>
                  <a:srgbClr val="0D2A4A"/>
                </a:solidFill>
                <a:latin typeface="Arial"/>
              </a:rPr>
              <a:t> :</a:t>
            </a:r>
            <a:endParaRPr sz="1300" b="1" i="0" dirty="0">
              <a:solidFill>
                <a:srgbClr val="0D2A4A"/>
              </a:solidFill>
              <a:latin typeface="Arial"/>
            </a:endParaRP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 i="1" dirty="0">
                <a:solidFill>
                  <a:srgbClr val="454F58"/>
                </a:solidFill>
                <a:latin typeface="Arial"/>
              </a:rPr>
              <a:t>Large-scale paired Sentinel-1 / Sentinel-2 remote-sensing benchmark and multimodal image-text resource.</a:t>
            </a:r>
          </a:p>
          <a:p>
            <a:pPr algn="l">
              <a:spcBef>
                <a:spcPts val="500"/>
              </a:spcBef>
              <a:spcAft>
                <a:spcPts val="100"/>
              </a:spcAft>
            </a:pPr>
            <a:r>
              <a:rPr sz="1300" b="1" i="0" dirty="0" err="1">
                <a:solidFill>
                  <a:srgbClr val="0D2A4A"/>
                </a:solidFill>
                <a:latin typeface="Arial"/>
              </a:rPr>
              <a:t>VRSBench</a:t>
            </a:r>
            <a:r>
              <a:rPr lang="en-US" sz="1300" b="1" i="0" dirty="0">
                <a:solidFill>
                  <a:srgbClr val="0D2A4A"/>
                </a:solidFill>
                <a:latin typeface="Arial"/>
              </a:rPr>
              <a:t> :</a:t>
            </a:r>
            <a:endParaRPr sz="1300" b="1" i="0" dirty="0">
              <a:solidFill>
                <a:srgbClr val="0D2A4A"/>
              </a:solidFill>
              <a:latin typeface="Arial"/>
            </a:endParaRP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 i="1" dirty="0">
                <a:solidFill>
                  <a:srgbClr val="454F58"/>
                </a:solidFill>
                <a:latin typeface="Arial"/>
              </a:rPr>
              <a:t>RS-VLM benchmark for captioning, visual grounding and VQA.</a:t>
            </a:r>
          </a:p>
          <a:p>
            <a:pPr algn="l">
              <a:spcBef>
                <a:spcPts val="500"/>
              </a:spcBef>
              <a:spcAft>
                <a:spcPts val="100"/>
              </a:spcAft>
            </a:pPr>
            <a:r>
              <a:rPr sz="1300" b="1" i="0" dirty="0">
                <a:solidFill>
                  <a:srgbClr val="0D2A4A"/>
                </a:solidFill>
                <a:latin typeface="Arial"/>
              </a:rPr>
              <a:t>RSVQA</a:t>
            </a:r>
            <a:r>
              <a:rPr lang="en-US" sz="1300" b="1" i="0" dirty="0">
                <a:solidFill>
                  <a:srgbClr val="0D2A4A"/>
                </a:solidFill>
                <a:latin typeface="Arial"/>
              </a:rPr>
              <a:t> :</a:t>
            </a:r>
            <a:endParaRPr sz="1300" b="1" i="0" dirty="0">
              <a:solidFill>
                <a:srgbClr val="0D2A4A"/>
              </a:solidFill>
              <a:latin typeface="Arial"/>
            </a:endParaRP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 i="1" dirty="0">
                <a:solidFill>
                  <a:srgbClr val="454F58"/>
                </a:solidFill>
                <a:latin typeface="Arial"/>
              </a:rPr>
              <a:t>Remote-sensing visual question answering with natural-language queries.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365760" y="3410870"/>
            <a:ext cx="5532120" cy="1910938"/>
          </a:xfrm>
          <a:prstGeom prst="roundRect">
            <a:avLst>
              <a:gd name="adj" fmla="val 5000"/>
            </a:avLst>
          </a:prstGeom>
          <a:solidFill>
            <a:srgbClr val="F4F8FC"/>
          </a:solidFill>
          <a:ln w="9525">
            <a:solidFill>
              <a:srgbClr val="C7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7" name="TextBox 17416"/>
          <p:cNvSpPr txBox="1"/>
          <p:nvPr/>
        </p:nvSpPr>
        <p:spPr>
          <a:xfrm>
            <a:off x="487680" y="3602653"/>
            <a:ext cx="5166359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/>
            <a:r>
              <a:rPr sz="1700" b="1" i="0" dirty="0">
                <a:solidFill>
                  <a:srgbClr val="0070C0"/>
                </a:solidFill>
                <a:latin typeface="Arial"/>
              </a:rPr>
              <a:t>Change Analysis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548639" y="4087626"/>
            <a:ext cx="5166359" cy="994775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Bef>
                <a:spcPts val="500"/>
              </a:spcBef>
              <a:spcAft>
                <a:spcPts val="100"/>
              </a:spcAft>
            </a:pPr>
            <a:r>
              <a:rPr sz="1700" b="1" i="0" dirty="0">
                <a:solidFill>
                  <a:srgbClr val="0D2A4A"/>
                </a:solidFill>
                <a:latin typeface="Arial"/>
              </a:rPr>
              <a:t>CDVQA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 i="1" dirty="0">
                <a:solidFill>
                  <a:srgbClr val="454F58"/>
                </a:solidFill>
                <a:latin typeface="Arial"/>
              </a:rPr>
              <a:t>Change Detection Meets Visual Question Answering — IEEE TGRS, 2022.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6172200" y="3419934"/>
            <a:ext cx="5654040" cy="1901874"/>
          </a:xfrm>
          <a:prstGeom prst="roundRect">
            <a:avLst>
              <a:gd name="adj" fmla="val 5000"/>
            </a:avLst>
          </a:prstGeom>
          <a:solidFill>
            <a:srgbClr val="F4F8FC"/>
          </a:solidFill>
          <a:ln w="9525">
            <a:solidFill>
              <a:srgbClr val="C7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0" name="TextBox 17419"/>
          <p:cNvSpPr txBox="1"/>
          <p:nvPr/>
        </p:nvSpPr>
        <p:spPr>
          <a:xfrm>
            <a:off x="6355079" y="3552046"/>
            <a:ext cx="5166359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/>
            <a:r>
              <a:rPr b="1" i="0" dirty="0">
                <a:solidFill>
                  <a:srgbClr val="0070C0"/>
                </a:solidFill>
                <a:latin typeface="Arial"/>
              </a:rPr>
              <a:t>Indian EO Ecosystem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6355080" y="3995610"/>
            <a:ext cx="5166359" cy="1417319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Bef>
                <a:spcPts val="500"/>
              </a:spcBef>
              <a:spcAft>
                <a:spcPts val="100"/>
              </a:spcAft>
            </a:pPr>
            <a:r>
              <a:rPr sz="1700" b="1" i="0" dirty="0">
                <a:solidFill>
                  <a:srgbClr val="0D2A4A"/>
                </a:solidFill>
                <a:latin typeface="Arial"/>
              </a:rPr>
              <a:t>Bhuvan – NRSC/ISRO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 i="1" dirty="0">
                <a:solidFill>
                  <a:srgbClr val="454F58"/>
                </a:solidFill>
                <a:latin typeface="Arial"/>
              </a:rPr>
              <a:t>ISRO/NRSC’s Indian Geoportal for visualization &amp; access to Earth-observation datasets.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116378" y="5550408"/>
            <a:ext cx="12003578" cy="566928"/>
          </a:xfrm>
          <a:prstGeom prst="roundRect">
            <a:avLst>
              <a:gd name="adj" fmla="val 12000"/>
            </a:avLst>
          </a:prstGeom>
          <a:solidFill>
            <a:srgbClr val="0D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3" name="TextBox 17422"/>
          <p:cNvSpPr txBox="1"/>
          <p:nvPr/>
        </p:nvSpPr>
        <p:spPr>
          <a:xfrm>
            <a:off x="329773" y="5550408"/>
            <a:ext cx="11565046" cy="56692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Autofit/>
          </a:bodyPr>
          <a:lstStyle/>
          <a:p>
            <a:pPr algn="ctr"/>
            <a:r>
              <a:rPr sz="1500" b="0" i="1" dirty="0">
                <a:solidFill>
                  <a:srgbClr val="CFE3F7"/>
                </a:solidFill>
                <a:latin typeface="Arial"/>
              </a:rPr>
              <a:t>Grounded across </a:t>
            </a:r>
            <a:r>
              <a:rPr sz="1500" b="1" i="0" dirty="0">
                <a:solidFill>
                  <a:srgbClr val="E08E00"/>
                </a:solidFill>
                <a:latin typeface="Arial"/>
              </a:rPr>
              <a:t>SIH · </a:t>
            </a:r>
            <a:r>
              <a:rPr sz="1500" b="1" i="0" dirty="0" err="1">
                <a:solidFill>
                  <a:srgbClr val="E08E00"/>
                </a:solidFill>
                <a:latin typeface="Arial"/>
              </a:rPr>
              <a:t>BigEarthNet</a:t>
            </a:r>
            <a:r>
              <a:rPr sz="1500" b="1" i="0" dirty="0">
                <a:solidFill>
                  <a:srgbClr val="E08E00"/>
                </a:solidFill>
                <a:latin typeface="Arial"/>
              </a:rPr>
              <a:t> · </a:t>
            </a:r>
            <a:r>
              <a:rPr sz="1500" b="1" i="0" dirty="0" err="1">
                <a:solidFill>
                  <a:srgbClr val="E08E00"/>
                </a:solidFill>
                <a:latin typeface="Arial"/>
              </a:rPr>
              <a:t>VRSBench</a:t>
            </a:r>
            <a:r>
              <a:rPr sz="1500" b="1" i="0" dirty="0">
                <a:solidFill>
                  <a:srgbClr val="E08E00"/>
                </a:solidFill>
                <a:latin typeface="Arial"/>
              </a:rPr>
              <a:t> · RSVQA · CDVQA · Bhuvan</a:t>
            </a:r>
            <a:r>
              <a:rPr sz="1500" b="0" i="1" dirty="0">
                <a:solidFill>
                  <a:srgbClr val="CFE3F7"/>
                </a:solidFill>
                <a:latin typeface="Arial"/>
              </a:rPr>
              <a:t> — aligned to the official PS26167 evaluation protocol.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7632</TotalTime>
  <Words>936</Words>
  <Application>Microsoft Office PowerPoint</Application>
  <PresentationFormat>Widescreen</PresentationFormat>
  <Paragraphs>200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 IDEA TITLE</vt:lpstr>
      <vt:lpstr>TECHNICAL APPROACH</vt:lpstr>
      <vt:lpstr>FEASIBILITY AND VIABILITY</vt:lpstr>
      <vt:lpstr>IMPACT  AND 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Karthick M R</cp:lastModifiedBy>
  <cp:revision>149</cp:revision>
  <dcterms:created xsi:type="dcterms:W3CDTF">2013-12-12T18:46:50Z</dcterms:created>
  <dcterms:modified xsi:type="dcterms:W3CDTF">2026-09-05T10:59:24Z</dcterms:modified>
  <cp:category/>
</cp:coreProperties>
</file>